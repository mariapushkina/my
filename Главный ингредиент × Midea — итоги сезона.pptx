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E3124"/>
              </a:solidFill>
              <a:ln w="25400" cap="flat">
                <a:solidFill>
                  <a:srgbClr val="1C1C1C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6A6E75"/>
              </a:solidFill>
              <a:ln w="25400" cap="flat">
                <a:solidFill>
                  <a:srgbClr val="1C1C1C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.0&quot; млн ₽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Montserra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 млн ₽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Montserra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 млн ₽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Медиа и управление</c:v>
                </c:pt>
                <c:pt idx="1">
                  <c:v>Гонорары, права и продакшн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22.4</c:v>
                </c:pt>
                <c:pt idx="1">
                  <c:v>67.2</c:v>
                </c:pt>
              </c:numCache>
            </c:numRef>
          </c:val>
        </c:ser>
        <c:firstSliceAng val="0"/>
        <c:holeSize val="54"/>
      </c:doughnutChart>
      <c:spPr>
        <a:solidFill>
          <a:srgbClr val="1C1C1C"/>
        </a:solidFill>
        <a:ln w="12700" cap="flat">
          <a:solidFill>
            <a:srgbClr val="1C1C1C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B9BDC4"/>
              </a:solidFill>
              <a:latin typeface="Montserrat"/>
              <a:cs typeface="Montserrat"/>
            </a:defRPr>
          </a:pPr>
          <a:endParaRPr lang="en-US"/>
        </a:p>
      </c:txPr>
    </c:legend>
    <c:plotVisOnly val="1"/>
    <c:dispBlanksAs val="span"/>
  </c:chart>
  <c:spPr>
    <a:solidFill>
      <a:srgbClr val="1C1C1C"/>
    </a:solidFill>
    <a:ln w="12700" cap="flat">
      <a:solidFill>
        <a:srgbClr val="1C1C1C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Просмотры, млн</c:v>
                </c:pt>
              </c:strCache>
            </c:strRef>
          </c:tx>
          <c:spPr>
            <a:solidFill>
              <a:srgbClr val="EE312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Ноя</c:v>
                  </c:pt>
                  <c:pt idx="1">
                    <c:v>Дек</c:v>
                  </c:pt>
                  <c:pt idx="2">
                    <c:v>Янв</c:v>
                  </c:pt>
                  <c:pt idx="3">
                    <c:v>Фев</c:v>
                  </c:pt>
                  <c:pt idx="4">
                    <c:v>Мар</c:v>
                  </c:pt>
                  <c:pt idx="5">
                    <c:v>Апр</c:v>
                  </c:pt>
                  <c:pt idx="6">
                    <c:v>Май</c:v>
                  </c:pt>
                  <c:pt idx="7">
                    <c:v>Июн</c:v>
                  </c:pt>
                  <c:pt idx="8">
                    <c:v>Июл</c:v>
                  </c:pt>
                  <c:pt idx="9">
                    <c:v>Авг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4.53</c:v>
                </c:pt>
                <c:pt idx="1">
                  <c:v>8.1</c:v>
                </c:pt>
                <c:pt idx="2">
                  <c:v>9.49</c:v>
                </c:pt>
                <c:pt idx="3">
                  <c:v>11.35</c:v>
                </c:pt>
                <c:pt idx="4">
                  <c:v>14.03</c:v>
                </c:pt>
                <c:pt idx="5">
                  <c:v>4.04</c:v>
                </c:pt>
                <c:pt idx="6">
                  <c:v>1.84</c:v>
                </c:pt>
                <c:pt idx="7">
                  <c:v>3.28</c:v>
                </c:pt>
                <c:pt idx="8">
                  <c:v>3.99</c:v>
                </c:pt>
                <c:pt idx="9">
                  <c:v>3.15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50" u="none">
                  <a:solidFill>
                    <a:srgbClr val="FFFFFF"/>
                  </a:solidFill>
                  <a:latin typeface="Montserra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B9BDC4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9BDC4"/>
                </a:solidFill>
                <a:latin typeface="Montserra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1C1C"/>
        </a:solidFill>
        <a:ln w="12700" cap="flat">
          <a:solidFill>
            <a:srgbClr val="1C1C1C"/>
          </a:solidFill>
        </a:ln>
        <a:effectLst/>
      </c:spPr>
    </c:plotArea>
    <c:plotVisOnly val="1"/>
    <c:dispBlanksAs val="span"/>
  </c:chart>
  <c:spPr>
    <a:solidFill>
      <a:srgbClr val="1C1C1C"/>
    </a:solidFill>
    <a:ln w="12700" cap="flat">
      <a:solidFill>
        <a:srgbClr val="1C1C1C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просмотров</c:v>
                </c:pt>
              </c:strCache>
            </c:strRef>
          </c:tx>
          <c:spPr>
            <a:solidFill>
              <a:srgbClr val="EE312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Видео в Медиатеке</c:v>
                  </c:pt>
                  <c:pt idx="1">
                    <c:v>Конкурсный пост</c:v>
                  </c:pt>
                  <c:pt idx="2">
                    <c:v>Страница гостя</c:v>
                  </c:pt>
                  <c:pt idx="3">
                    <c:v>Пост сообщества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77.7</c:v>
                </c:pt>
                <c:pt idx="1">
                  <c:v>18.6</c:v>
                </c:pt>
                <c:pt idx="2">
                  <c:v>3.5</c:v>
                </c:pt>
                <c:pt idx="3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Доля реакций</c:v>
                </c:pt>
              </c:strCache>
            </c:strRef>
          </c:tx>
          <c:spPr>
            <a:solidFill>
              <a:srgbClr val="6A6E7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Видео в Медиатеке</c:v>
                  </c:pt>
                  <c:pt idx="1">
                    <c:v>Конкурсный пост</c:v>
                  </c:pt>
                  <c:pt idx="2">
                    <c:v>Страница гостя</c:v>
                  </c:pt>
                  <c:pt idx="3">
                    <c:v>Пост сообщества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</c:v>
                </c:pt>
                <c:pt idx="1">
                  <c:v>27.3</c:v>
                </c:pt>
                <c:pt idx="2">
                  <c:v>17.8</c:v>
                </c:pt>
                <c:pt idx="3">
                  <c:v>3.9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Montserra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B9BDC4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9BDC4"/>
                </a:solidFill>
                <a:latin typeface="Montserra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1C1C"/>
        </a:solidFill>
        <a:ln w="12700" cap="flat">
          <a:solidFill>
            <a:srgbClr val="1C1C1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B9BDC4"/>
              </a:solidFill>
              <a:latin typeface="Montserrat"/>
              <a:cs typeface="Montserrat"/>
            </a:defRPr>
          </a:pPr>
          <a:endParaRPr lang="en-US"/>
        </a:p>
      </c:txPr>
    </c:legend>
    <c:plotVisOnly val="1"/>
    <c:dispBlanksAs val="span"/>
  </c:chart>
  <c:spPr>
    <a:solidFill>
      <a:srgbClr val="1C1C1C"/>
    </a:solidFill>
    <a:ln w="12700" cap="flat">
      <a:solidFill>
        <a:srgbClr val="1C1C1C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Досмотрели до 75%</c:v>
                </c:pt>
              </c:strCache>
            </c:strRef>
          </c:tx>
          <c:spPr>
            <a:solidFill>
              <a:srgbClr val="EE312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01 · Денис</c:v>
                  </c:pt>
                  <c:pt idx="1">
                    <c:v>02 · Ольга</c:v>
                  </c:pt>
                  <c:pt idx="2">
                    <c:v>03 · Слава</c:v>
                  </c:pt>
                  <c:pt idx="3">
                    <c:v>04 · Карина</c:v>
                  </c:pt>
                  <c:pt idx="4">
                    <c:v>05 · Ольга</c:v>
                  </c:pt>
                  <c:pt idx="5">
                    <c:v>06 · Анна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2.16</c:v>
                </c:pt>
                <c:pt idx="1">
                  <c:v>2.85</c:v>
                </c:pt>
                <c:pt idx="2">
                  <c:v>2.14</c:v>
                </c:pt>
                <c:pt idx="3">
                  <c:v>4.6</c:v>
                </c:pt>
                <c:pt idx="4">
                  <c:v>8.92</c:v>
                </c:pt>
                <c:pt idx="5">
                  <c:v>2.32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50" u="none">
                  <a:solidFill>
                    <a:srgbClr val="FFFFFF"/>
                  </a:solidFill>
                  <a:latin typeface="Montserra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B9BDC4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9BDC4"/>
                </a:solidFill>
                <a:latin typeface="Montserra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1C1C"/>
        </a:solidFill>
        <a:ln w="12700" cap="flat">
          <a:solidFill>
            <a:srgbClr val="1C1C1C"/>
          </a:solidFill>
        </a:ln>
        <a:effectLst/>
      </c:spPr>
    </c:plotArea>
    <c:plotVisOnly val="1"/>
    <c:dispBlanksAs val="span"/>
  </c:chart>
  <c:spPr>
    <a:solidFill>
      <a:srgbClr val="1C1C1C"/>
    </a:solidFill>
    <a:ln w="12700" cap="flat">
      <a:solidFill>
        <a:srgbClr val="1C1C1C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Запросов в месяц</c:v>
                </c:pt>
              </c:strCache>
            </c:strRef>
          </c:tx>
          <c:spPr>
            <a:solidFill>
              <a:srgbClr val="EE3124"/>
            </a:solidFill>
            <a:ln w="38100" cap="flat">
              <a:solidFill>
                <a:srgbClr val="EE312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E3124"/>
              </a:solidFill>
              <a:ln w="9525" cap="flat">
                <a:solidFill>
                  <a:srgbClr val="EE312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Sheet1!$A$2:$A$33</c:f>
              <c:multiLvlStrCache>
                <c:ptCount val="32"/>
                <c:lvl>
                  <c:pt idx="0">
                    <c:v>янв 24</c:v>
                  </c:pt>
                  <c:pt idx="1">
                    <c:v/>
                  </c:pt>
                  <c:pt idx="2">
                    <c:v/>
                  </c:pt>
                  <c:pt idx="3">
                    <c:v>апр 24</c:v>
                  </c:pt>
                  <c:pt idx="4">
                    <c:v/>
                  </c:pt>
                  <c:pt idx="5">
                    <c:v/>
                  </c:pt>
                  <c:pt idx="6">
                    <c:v>июл 24</c:v>
                  </c:pt>
                  <c:pt idx="7">
                    <c:v/>
                  </c:pt>
                  <c:pt idx="8">
                    <c:v/>
                  </c:pt>
                  <c:pt idx="9">
                    <c:v>окт 24</c:v>
                  </c:pt>
                  <c:pt idx="10">
                    <c:v/>
                  </c:pt>
                  <c:pt idx="11">
                    <c:v/>
                  </c:pt>
                  <c:pt idx="12">
                    <c:v>янв 25</c:v>
                  </c:pt>
                  <c:pt idx="13">
                    <c:v/>
                  </c:pt>
                  <c:pt idx="14">
                    <c:v/>
                  </c:pt>
                  <c:pt idx="15">
                    <c:v>апр 25</c:v>
                  </c:pt>
                  <c:pt idx="16">
                    <c:v/>
                  </c:pt>
                  <c:pt idx="17">
                    <c:v/>
                  </c:pt>
                  <c:pt idx="18">
                    <c:v>июл 25</c:v>
                  </c:pt>
                  <c:pt idx="19">
                    <c:v/>
                  </c:pt>
                  <c:pt idx="20">
                    <c:v/>
                  </c:pt>
                  <c:pt idx="21">
                    <c:v>окт 25</c:v>
                  </c:pt>
                  <c:pt idx="22">
                    <c:v/>
                  </c:pt>
                  <c:pt idx="23">
                    <c:v/>
                  </c:pt>
                  <c:pt idx="24">
                    <c:v>янв 26</c:v>
                  </c:pt>
                  <c:pt idx="25">
                    <c:v/>
                  </c:pt>
                  <c:pt idx="26">
                    <c:v/>
                  </c:pt>
                  <c:pt idx="27">
                    <c:v>апр 26</c:v>
                  </c:pt>
                  <c:pt idx="28">
                    <c:v/>
                  </c:pt>
                  <c:pt idx="29">
                    <c:v/>
                  </c:pt>
                  <c:pt idx="30">
                    <c:v>июл 26</c:v>
                  </c:pt>
                  <c:pt idx="31">
                    <c:v/>
                  </c:pt>
                </c:lvl>
              </c:multiLvlStrCache>
            </c:multiLvlStr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277236</c:v>
                </c:pt>
                <c:pt idx="1">
                  <c:v>251449</c:v>
                </c:pt>
                <c:pt idx="2">
                  <c:v>269179</c:v>
                </c:pt>
                <c:pt idx="3">
                  <c:v>262019</c:v>
                </c:pt>
                <c:pt idx="4">
                  <c:v>293352</c:v>
                </c:pt>
                <c:pt idx="5">
                  <c:v>311094</c:v>
                </c:pt>
                <c:pt idx="6">
                  <c:v>325497</c:v>
                </c:pt>
                <c:pt idx="7">
                  <c:v>255267</c:v>
                </c:pt>
                <c:pt idx="8">
                  <c:v>237968</c:v>
                </c:pt>
                <c:pt idx="9">
                  <c:v>269830</c:v>
                </c:pt>
                <c:pt idx="10">
                  <c:v>314544</c:v>
                </c:pt>
                <c:pt idx="11">
                  <c:v>316532</c:v>
                </c:pt>
                <c:pt idx="12">
                  <c:v>317494</c:v>
                </c:pt>
                <c:pt idx="13">
                  <c:v>319234</c:v>
                </c:pt>
                <c:pt idx="14">
                  <c:v>392458</c:v>
                </c:pt>
                <c:pt idx="15">
                  <c:v>333426</c:v>
                </c:pt>
                <c:pt idx="16">
                  <c:v>331813</c:v>
                </c:pt>
                <c:pt idx="17">
                  <c:v>373244</c:v>
                </c:pt>
                <c:pt idx="18">
                  <c:v>457596</c:v>
                </c:pt>
                <c:pt idx="19">
                  <c:v>401006</c:v>
                </c:pt>
                <c:pt idx="20">
                  <c:v>367057</c:v>
                </c:pt>
                <c:pt idx="21">
                  <c:v>409644</c:v>
                </c:pt>
                <c:pt idx="22">
                  <c:v>451403</c:v>
                </c:pt>
                <c:pt idx="23">
                  <c:v>415130</c:v>
                </c:pt>
                <c:pt idx="24">
                  <c:v>370467</c:v>
                </c:pt>
                <c:pt idx="25">
                  <c:v>328316</c:v>
                </c:pt>
                <c:pt idx="26">
                  <c:v>381623</c:v>
                </c:pt>
                <c:pt idx="27">
                  <c:v>379423</c:v>
                </c:pt>
                <c:pt idx="28">
                  <c:v>403959</c:v>
                </c:pt>
                <c:pt idx="29">
                  <c:v>468223</c:v>
                </c:pt>
                <c:pt idx="30">
                  <c:v>595304</c:v>
                </c:pt>
                <c:pt idx="31">
                  <c:v>655634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FFFFFF"/>
                  </a:solidFill>
                  <a:latin typeface="Montserra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B9BDC4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333333"/>
              </a:solidFill>
              <a:prstDash val="solid"/>
              <a:round/>
            </a:ln>
          </c:spPr>
        </c:majorGridlines>
        <c:numFmt formatCode="# 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9BDC4"/>
                </a:solidFill>
                <a:latin typeface="Montserra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1C1C"/>
        </a:solidFill>
        <a:ln w="12700" cap="flat">
          <a:solidFill>
            <a:srgbClr val="1C1C1C"/>
          </a:solidFill>
        </a:ln>
        <a:effectLst/>
      </c:spPr>
    </c:plotArea>
    <c:plotVisOnly val="1"/>
    <c:dispBlanksAs val="span"/>
  </c:chart>
  <c:spPr>
    <a:solidFill>
      <a:srgbClr val="1C1C1C"/>
    </a:solidFill>
    <a:ln w="12700" cap="flat">
      <a:solidFill>
        <a:srgbClr val="1C1C1C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ноя 2024 — авг 2025</c:v>
                </c:pt>
              </c:strCache>
            </c:strRef>
          </c:tx>
          <c:spPr>
            <a:solidFill>
              <a:srgbClr val="6A6E75"/>
            </a:solidFill>
            <a:effectLst/>
          </c:spPr>
          <c:invertIfNegative val="0"/>
          <c:dLbls>
            <c:numFmt formatCode="0.00&quot; млн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Все написания</c:v>
                  </c:pt>
                  <c:pt idx="1">
                    <c:v>Midea</c:v>
                  </c:pt>
                  <c:pt idx="2">
                    <c:v>Мидея</c:v>
                  </c:pt>
                  <c:pt idx="3">
                    <c:v>Мидеа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3.56</c:v>
                </c:pt>
                <c:pt idx="1">
                  <c:v>2.45</c:v>
                </c:pt>
                <c:pt idx="2">
                  <c:v>0.55</c:v>
                </c:pt>
                <c:pt idx="3">
                  <c:v>0.56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ноя 2025 — авг 2026</c:v>
                </c:pt>
              </c:strCache>
            </c:strRef>
          </c:tx>
          <c:spPr>
            <a:solidFill>
              <a:srgbClr val="EE3124"/>
            </a:solidFill>
            <a:effectLst/>
          </c:spPr>
          <c:invertIfNegative val="0"/>
          <c:dLbls>
            <c:numFmt formatCode="0.00&quot; млн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Все написания</c:v>
                  </c:pt>
                  <c:pt idx="1">
                    <c:v>Midea</c:v>
                  </c:pt>
                  <c:pt idx="2">
                    <c:v>Мидея</c:v>
                  </c:pt>
                  <c:pt idx="3">
                    <c:v>Мидеа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4.45</c:v>
                </c:pt>
                <c:pt idx="1">
                  <c:v>3.18</c:v>
                </c:pt>
                <c:pt idx="2">
                  <c:v>0.51</c:v>
                </c:pt>
                <c:pt idx="3">
                  <c:v>0.76</c:v>
                </c:pt>
              </c:numCache>
            </c:numRef>
          </c:val>
        </c:ser>
        <c:dLbls>
          <c:numFmt formatCode="0.00&quot; млн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Montserra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B9BDC4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9BDC4"/>
                </a:solidFill>
                <a:latin typeface="Montserra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1C1C"/>
        </a:solidFill>
        <a:ln w="12700" cap="flat">
          <a:solidFill>
            <a:srgbClr val="1C1C1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B9BDC4"/>
              </a:solidFill>
              <a:latin typeface="Montserrat"/>
              <a:cs typeface="Montserrat"/>
            </a:defRPr>
          </a:pPr>
          <a:endParaRPr lang="en-US"/>
        </a:p>
      </c:txPr>
    </c:legend>
    <c:plotVisOnly val="1"/>
    <c:dispBlanksAs val="span"/>
  </c:chart>
  <c:spPr>
    <a:solidFill>
      <a:srgbClr val="1C1C1C"/>
    </a:solidFill>
    <a:ln w="12700" cap="flat">
      <a:solidFill>
        <a:srgbClr val="1C1C1C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Итоги спецпроекта. Все цифры — из интерактивного дашборда, который направлен отдельно.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.xml"/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.xml"/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.xml"/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6.xml"/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advi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pic>
        <p:nvPicPr>
          <p:cNvPr id="3" name="Image 1" descr="logo-mid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6616"/>
            <a:ext cx="676656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2240280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MIDEA × ADVISOR MEDIA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2697480"/>
            <a:ext cx="9144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«Главный ингредиент»
</a:t>
            </a:r>
            <a:pPr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Итоги сезона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4480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Ноябрь 2025 — август 2026. 12 выпусков, 27 публикаций, 50,2 млн просмотров.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589788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Отчёт к встрече 29.09.2026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advi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pic>
        <p:nvPicPr>
          <p:cNvPr id="3" name="Image 1" descr="logo-mid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6616"/>
            <a:ext cx="676656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Сезон в </a:t>
            </a:r>
            <a:pPr indent="0" marL="0">
              <a:buNone/>
            </a:pP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четырёх цифрах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150876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Десять месяцев регулярного присутствия бренда в ленте VK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11480" y="2148840"/>
            <a:ext cx="2691308" cy="1600200"/>
          </a:xfrm>
          <a:prstGeom prst="roundRect">
            <a:avLst>
              <a:gd name="adj" fmla="val 2857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0936" y="2313432"/>
            <a:ext cx="2252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ПРОСМОТРОВ ЗА СЕЗОН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630936" y="2569464"/>
            <a:ext cx="2252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50,2 млн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630936" y="3136392"/>
            <a:ext cx="22523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видео в Медиатеке VK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303956" y="2148840"/>
            <a:ext cx="2691308" cy="1600200"/>
          </a:xfrm>
          <a:prstGeom prst="roundRect">
            <a:avLst>
              <a:gd name="adj" fmla="val 2857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23412" y="2313432"/>
            <a:ext cx="2252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СТОИМОСТЬ ПРОСМОТРА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3523412" y="2569464"/>
            <a:ext cx="2252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0,44 ₽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3523412" y="3136392"/>
            <a:ext cx="22523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медийная, видео и конкурсы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96432" y="2148840"/>
            <a:ext cx="2691308" cy="1600200"/>
          </a:xfrm>
          <a:prstGeom prst="roundRect">
            <a:avLst>
              <a:gd name="adj" fmla="val 2857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415888" y="2313432"/>
            <a:ext cx="2252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БРЕНДОВЫЙ СПРОС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6415888" y="2569464"/>
            <a:ext cx="2252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+25,1%</a:t>
            </a:r>
            <a:endParaRPr lang="en-US" sz="3000" dirty="0"/>
          </a:p>
        </p:txBody>
      </p:sp>
      <p:sp>
        <p:nvSpPr>
          <p:cNvPr id="19" name="Text 15"/>
          <p:cNvSpPr txBox="1"/>
          <p:nvPr/>
        </p:nvSpPr>
        <p:spPr>
          <a:xfrm>
            <a:off x="6415888" y="3136392"/>
            <a:ext cx="22523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 тем же месяцам годом раньше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9088907" y="2148840"/>
            <a:ext cx="2691308" cy="1600200"/>
          </a:xfrm>
          <a:prstGeom prst="roundRect">
            <a:avLst>
              <a:gd name="adj" fmla="val 2857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308363" y="2313432"/>
            <a:ext cx="2252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ТОП-ПОСТОВ MIDEA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9308363" y="2569464"/>
            <a:ext cx="2252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 из 4</a:t>
            </a:r>
            <a:endParaRPr lang="en-US" sz="3000" dirty="0"/>
          </a:p>
        </p:txBody>
      </p:sp>
      <p:sp>
        <p:nvSpPr>
          <p:cNvPr id="23" name="Text 19"/>
          <p:cNvSpPr txBox="1"/>
          <p:nvPr/>
        </p:nvSpPr>
        <p:spPr>
          <a:xfrm>
            <a:off x="9308363" y="3136392"/>
            <a:ext cx="22523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конкурсы шоу, данные LiveDune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411480" y="3977640"/>
            <a:ext cx="35152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27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411480" y="4416552"/>
            <a:ext cx="3515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публикаций: 12 выпусков, 12 конкурсов, 3 суперрозыгрыша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4201058" y="3977640"/>
            <a:ext cx="35152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14 024</a:t>
            </a:r>
            <a:endParaRPr lang="en-US" sz="2200" dirty="0"/>
          </a:p>
        </p:txBody>
      </p:sp>
      <p:sp>
        <p:nvSpPr>
          <p:cNvPr id="27" name="Text 23"/>
          <p:cNvSpPr txBox="1"/>
          <p:nvPr/>
        </p:nvSpPr>
        <p:spPr>
          <a:xfrm>
            <a:off x="4201058" y="4416552"/>
            <a:ext cx="3515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комментария под выпусками и конкурсами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7990637" y="3977640"/>
            <a:ext cx="35152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656 тыс.</a:t>
            </a:r>
            <a:endParaRPr lang="en-US" sz="2200" dirty="0"/>
          </a:p>
        </p:txBody>
      </p:sp>
      <p:sp>
        <p:nvSpPr>
          <p:cNvPr id="29" name="Text 25"/>
          <p:cNvSpPr txBox="1"/>
          <p:nvPr/>
        </p:nvSpPr>
        <p:spPr>
          <a:xfrm>
            <a:off x="7990637" y="4416552"/>
            <a:ext cx="3515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запросов в августе — пик за 32 месяца наблюдений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11480" y="5074920"/>
            <a:ext cx="11368735" cy="91440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30936" y="5212080"/>
            <a:ext cx="10929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ВАЖНАЯ ОГОВОРКА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630936" y="5477256"/>
            <a:ext cx="109298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Рост брендового спроса — совокупный результат спецпроекта и параллельных медийных кампаний Midea. Выделить вклад одного канала по данным Wordstat нельзя.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411480" y="64008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статистика VK, Wordstat, LiveDune. Ноябрь 2025 — август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advi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pic>
        <p:nvPicPr>
          <p:cNvPr id="3" name="Image 1" descr="logo-mid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6616"/>
            <a:ext cx="676656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Три уровня </a:t>
            </a:r>
            <a:pPr indent="0" marL="0">
              <a:buNone/>
            </a:pP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стоимости просмотра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150876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Одна и та же кампания стоит по-разному в зависимости от того, что включать в расчёт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11480" y="2148840"/>
            <a:ext cx="3631082" cy="2468880"/>
          </a:xfrm>
          <a:prstGeom prst="roundRect">
            <a:avLst>
              <a:gd name="adj" fmla="val 1852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2368296"/>
            <a:ext cx="30824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0,36 ₽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3136392"/>
            <a:ext cx="30824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18,3 млн ₽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520440"/>
            <a:ext cx="3082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Продвижение выпусков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3831336"/>
            <a:ext cx="308244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Сумма медийных бюджетов по 12 выпускам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80306" y="2148840"/>
            <a:ext cx="3631082" cy="2468880"/>
          </a:xfrm>
          <a:prstGeom prst="roundRect">
            <a:avLst>
              <a:gd name="adj" fmla="val 1852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54626" y="2368296"/>
            <a:ext cx="30824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0,44 ₽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4554626" y="3136392"/>
            <a:ext cx="30824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22,4 млн ₽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554626" y="3520440"/>
            <a:ext cx="3082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Медиа и управление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554626" y="3831336"/>
            <a:ext cx="308244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Продвижение выпусков, конкурсы и управление проектом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49133" y="2148840"/>
            <a:ext cx="3631082" cy="2468880"/>
          </a:xfrm>
          <a:prstGeom prst="roundRect">
            <a:avLst>
              <a:gd name="adj" fmla="val 1852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423453" y="2368296"/>
            <a:ext cx="30824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1,78 ₽</a:t>
            </a:r>
            <a:endParaRPr lang="en-US" sz="4000" dirty="0"/>
          </a:p>
        </p:txBody>
      </p:sp>
      <p:sp>
        <p:nvSpPr>
          <p:cNvPr id="20" name="Text 16"/>
          <p:cNvSpPr txBox="1"/>
          <p:nvPr/>
        </p:nvSpPr>
        <p:spPr>
          <a:xfrm>
            <a:off x="8423453" y="3136392"/>
            <a:ext cx="30824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89,5 млн ₽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8423453" y="3520440"/>
            <a:ext cx="3082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31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бюджет сезона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423453" y="3831336"/>
            <a:ext cx="308244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 гонорарами гостей, правами на амбассадора и продакшном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11480" y="4800600"/>
            <a:ext cx="11368735" cy="960120"/>
          </a:xfrm>
          <a:prstGeom prst="roundRect">
            <a:avLst>
              <a:gd name="adj" fmla="val 4762"/>
            </a:avLst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30936" y="4937760"/>
            <a:ext cx="10929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ИЗ ЭТОГО СЛЕДУЕТ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630936" y="5202936"/>
            <a:ext cx="1092982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четверти бюджета ушли не в охват, а в создание контента. Полная стоимость просмотра — 1,78 ₽, это в четыре раза выше медийной. Поэтому следующие форматы строим на готовом контенте и аудитории авторов.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411480" y="64008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Все суммы без НДС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advi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pic>
        <p:nvPicPr>
          <p:cNvPr id="3" name="Image 1" descr="logo-mid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6616"/>
            <a:ext cx="676656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Из чего сложился </a:t>
            </a:r>
            <a:pPr indent="0" marL="0">
              <a:buNone/>
            </a:pP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бюджет сезона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150876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89,5 млн ₽: четверть на продвижение, три четверти на создание контента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" y="2103120"/>
          <a:ext cx="4389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2286000"/>
          <a:ext cx="661385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850392"/>
                <a:gridCol w="155448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Статья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Сумма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Доля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На просмотр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Медиа и управление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22,4 млн ₽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25%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0,44 ₽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Гонорары, права и продакшн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67,2 млн ₽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75%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Итого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89,5 млн ₽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100%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E312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1,78 ₽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5166360" y="4114800"/>
            <a:ext cx="6613855" cy="1508760"/>
          </a:xfrm>
          <a:prstGeom prst="roundRect">
            <a:avLst>
              <a:gd name="adj" fmla="val 3030"/>
            </a:avLst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5385816" y="4251960"/>
            <a:ext cx="6174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СОСТАВ ВТОРОЙ СТАТЬИ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5385816" y="4517136"/>
            <a:ext cx="6174943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Гонорары гостей — 27,2 млн ₽ за 11 блогеров. Права на амбассадора — 25,1 млн ₽, эксклюзив и права на изображение, годовой пакет. Продакшн — 14,9 млн ₽: крю, оборудование, декорации.</a:t>
            </a:r>
            <a:endParaRPr lang="en-US" sz="1150" dirty="0"/>
          </a:p>
        </p:txBody>
      </p:sp>
      <p:sp>
        <p:nvSpPr>
          <p:cNvPr id="13" name="Text 7"/>
          <p:cNvSpPr txBox="1"/>
          <p:nvPr/>
        </p:nvSpPr>
        <p:spPr>
          <a:xfrm>
            <a:off x="411480" y="64008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Все суммы без НДС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advi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pic>
        <p:nvPicPr>
          <p:cNvPr id="3" name="Image 1" descr="logo-mid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6616"/>
            <a:ext cx="676656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Просмотры </a:t>
            </a:r>
            <a:pPr indent="0" marL="0">
              <a:buNone/>
            </a:pP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 месяцам сезона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150876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 публикаций за десять месяцев — примерно одно касание с брендом каждые полторы недели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" y="2103120"/>
          <a:ext cx="11368735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Shape 4"/>
          <p:cNvSpPr/>
          <p:nvPr/>
        </p:nvSpPr>
        <p:spPr>
          <a:xfrm>
            <a:off x="411480" y="5257800"/>
            <a:ext cx="11368735" cy="960120"/>
          </a:xfrm>
          <a:prstGeom prst="roundRect">
            <a:avLst>
              <a:gd name="adj" fmla="val 4762"/>
            </a:avLst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30936" y="5394960"/>
            <a:ext cx="10929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РАЗМЕЩЕНИЙ ПО МЕСЯЦАМ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630936" y="5660136"/>
            <a:ext cx="1092982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Ноя — 1 · Дек — 3 · Янв — 2 · Фев — 2 · Мар — 5 · Апр — 2 · Май — 3 · Июн — 2 · Июл — 4 · Авг — 3. Больше всего в марте — пять размещений всех трёх типов.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411480" y="64008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Просмотры по всем публикациям месяца: выпуски, конкурсы и суперрозыгрыши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advi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pic>
        <p:nvPicPr>
          <p:cNvPr id="3" name="Image 1" descr="logo-mid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6616"/>
            <a:ext cx="676656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Двенадцать </a:t>
            </a:r>
            <a:pPr indent="0" marL="0">
              <a:buNone/>
            </a:pP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выпусков сезона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6873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97480"/>
                <a:gridCol w="1005840"/>
                <a:gridCol w="1645920"/>
                <a:gridCol w="1645920"/>
                <a:gridCol w="914400"/>
                <a:gridCol w="1371600"/>
                <a:gridCol w="163951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№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Гость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Дата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Просмотры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Бюджет, ₽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CPV, ₽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Реакции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Комм.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01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Денис Кукояка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24.11.2025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4 527 129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2 199 902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0,49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5 238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722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02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Ольга Белькович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22.12.2025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4 140 750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2 189 440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0,53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6 928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3 413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03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Слава Копейкин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22.01.2026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9 456 534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2 421 942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0,26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14 883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1 183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04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Карина Кросс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14.02.2026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10 197 390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3 028 157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0,30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9 852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982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05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Ольга Белькович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07.03.2026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3 210 015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1 254 302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0,39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4 193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2 866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Анна Хилькевич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26.03.2026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8 515 462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3 043 653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0,36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12 733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1 366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07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Алексей Столяров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28.04.2026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2 788 407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998 566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0,36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3 205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465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08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Аня Покров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14.05.2026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886 312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516 467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0,58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3 488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702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09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Гоша Карцев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10.06.2026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2 217 020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955 398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0,43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6 028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865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Ксюша Дукалис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03.07.2026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1 497 457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431 641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0,29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2 027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341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11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Илья Куруч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26.07.2026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925 547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379 458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0,41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3 880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947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Карина Нигай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17.08.2026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1 887 485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855 453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0,45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3 767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172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Итого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E312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50 249 508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18 274 379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E312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0,36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76 222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14 024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411480" y="64008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 — медийное продвижение выпуска. CPV итогом — 0,36 ₽ только за видео; 0,44 ₽ с конкурсами и управлением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advi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pic>
        <p:nvPicPr>
          <p:cNvPr id="3" name="Image 1" descr="logo-mid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6616"/>
            <a:ext cx="676656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Объём даёт видео, </a:t>
            </a:r>
            <a:pPr indent="0" marL="0">
              <a:buNone/>
            </a:pP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вовлечение — конкурсы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150876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Видео собирает 78% просмотров, а остальные площадки при 22% просмотров дают половину реакций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" y="2103120"/>
          <a:ext cx="11368735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Shape 4"/>
          <p:cNvSpPr/>
          <p:nvPr/>
        </p:nvSpPr>
        <p:spPr>
          <a:xfrm>
            <a:off x="411480" y="5166360"/>
            <a:ext cx="11368735" cy="1005840"/>
          </a:xfrm>
          <a:prstGeom prst="roundRect">
            <a:avLst>
              <a:gd name="adj" fmla="val 4545"/>
            </a:avLst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30936" y="5303520"/>
            <a:ext cx="10929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ВЫВОД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630936" y="5568696"/>
            <a:ext cx="1092982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Охват и вовлечение жили в разных местах: просмотры давало видео, реакции — механика вокруг него. В следующих активностях вовлекающая механика должна быть внутри самого контента, а не отдельным постом.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411480" y="64008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Реакции: лайки, комментарии и репосты. Всего 76 222 реакции на 64,6 млн просмотров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advi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pic>
        <p:nvPicPr>
          <p:cNvPr id="3" name="Image 1" descr="logo-mid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6616"/>
            <a:ext cx="676656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Все четыре топовых поста — </a:t>
            </a:r>
            <a:pPr indent="0" marL="0">
              <a:buNone/>
            </a:pP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конкурсы шоу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150876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LiveDune, динамика аккаунта midearussia во ВКонтакте, 01.10.2025 — 31.08.2026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148840"/>
          <a:ext cx="1136873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053535"/>
                <a:gridCol w="1280160"/>
                <a:gridCol w="1737360"/>
                <a:gridCol w="1280160"/>
                <a:gridCol w="17373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Дата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Пост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Лайки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Комментарии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Репосты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Просмотры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25.03.2026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Конкурс с Анной Хилькевич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1 561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1 357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507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1 238 200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23.01.2026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Конкурс со Славой Копейкиным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1 263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1 176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395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32 615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12.02.2026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Конкурс с Кариной Кросс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1 002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969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244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1 156 675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12.06.2026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Конкурс с Гошей Карцевым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967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817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317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1 063 518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411480" y="4343400"/>
            <a:ext cx="35152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147</a:t>
            </a:r>
            <a:endParaRPr lang="en-US" sz="2100" dirty="0"/>
          </a:p>
        </p:txBody>
      </p:sp>
      <p:sp>
        <p:nvSpPr>
          <p:cNvPr id="10" name="Text 5"/>
          <p:cNvSpPr txBox="1"/>
          <p:nvPr/>
        </p:nvSpPr>
        <p:spPr>
          <a:xfrm>
            <a:off x="411480" y="4745736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публикаций аккаунта за период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4201058" y="4343400"/>
            <a:ext cx="35152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19 134</a:t>
            </a:r>
            <a:endParaRPr lang="en-US" sz="2100" dirty="0"/>
          </a:p>
        </p:txBody>
      </p:sp>
      <p:sp>
        <p:nvSpPr>
          <p:cNvPr id="12" name="Text 7"/>
          <p:cNvSpPr txBox="1"/>
          <p:nvPr/>
        </p:nvSpPr>
        <p:spPr>
          <a:xfrm>
            <a:off x="4201058" y="4745736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лайка всего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7990637" y="4343400"/>
            <a:ext cx="35152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15 119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7990637" y="4745736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комментариев всего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11480" y="5257800"/>
            <a:ext cx="11368735" cy="91440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30936" y="5394960"/>
            <a:ext cx="10929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ЭТО ЗНАЧИТ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" y="5660136"/>
            <a:ext cx="109298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Конкурсные посты спецпроекта оказались самыми вовлекающими публикациями аккаунта за одиннадцать месяцев — по независимым данным, а не по нашей статистике.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411480" y="64008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LiveDune, отчёт по динамике аккаунта midearussia, стр.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advi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pic>
        <p:nvPicPr>
          <p:cNvPr id="3" name="Image 1" descr="logo-mid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6616"/>
            <a:ext cx="676656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Длинные выпуски </a:t>
            </a:r>
            <a:pPr indent="0" marL="0">
              <a:buNone/>
            </a:pP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не досматривают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150876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Доля просмотров, в которых ролик досмотрели до 75% и дальше. Выпуски 01–06, сопоставимый период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" y="2103120"/>
          <a:ext cx="6821241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Shape 4"/>
          <p:cNvSpPr/>
          <p:nvPr/>
        </p:nvSpPr>
        <p:spPr>
          <a:xfrm>
            <a:off x="7488753" y="2103120"/>
            <a:ext cx="4291462" cy="1280160"/>
          </a:xfrm>
          <a:prstGeom prst="roundRect">
            <a:avLst>
              <a:gd name="adj" fmla="val 3571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708209" y="2267712"/>
            <a:ext cx="38525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СРЕДНЕМ ПО 01–06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7708209" y="2523744"/>
            <a:ext cx="3852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3,4%</a:t>
            </a:r>
            <a:endParaRPr lang="en-US" sz="3000" dirty="0"/>
          </a:p>
        </p:txBody>
      </p:sp>
      <p:sp>
        <p:nvSpPr>
          <p:cNvPr id="12" name="Text 7"/>
          <p:cNvSpPr txBox="1"/>
          <p:nvPr/>
        </p:nvSpPr>
        <p:spPr>
          <a:xfrm>
            <a:off x="7708209" y="3090672"/>
            <a:ext cx="38525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зрителей дошли до 75% ролика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7488753" y="3520440"/>
            <a:ext cx="4291462" cy="1325880"/>
          </a:xfrm>
          <a:prstGeom prst="roundRect">
            <a:avLst>
              <a:gd name="adj" fmla="val 3448"/>
            </a:avLst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708209" y="3657600"/>
            <a:ext cx="38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ВЫПУСКИ 07–12 НЕСОПОСТАВИМЫ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7708209" y="3922776"/>
            <a:ext cx="385255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 апреля VK изменил атрибуцию досмотров. Падение до 0,2% — смена методики подсчёта, а не поведение аудитории.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11480" y="5074920"/>
            <a:ext cx="11368735" cy="1188720"/>
          </a:xfrm>
          <a:prstGeom prst="roundRect">
            <a:avLst>
              <a:gd name="adj" fmla="val 3846"/>
            </a:avLst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0936" y="5212080"/>
            <a:ext cx="10929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ПОДТВЕРЖДЕНИЕ И ВЫВОД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" y="5477256"/>
            <a:ext cx="109298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Выпуск 08: в статистике VK 305 855 досмотров, но 304 189 из них — с короткого формата In-stream; в расчётах учтены только 1 666 досмотров самого выпуска. Вывод: короткий контент, где продукт появляется в первые секунды, а не в середине получасового ролика.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411480" y="64008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Хронометраж выпусков — 33–39 минут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advi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pic>
        <p:nvPicPr>
          <p:cNvPr id="3" name="Image 1" descr="logo-mid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6616"/>
            <a:ext cx="676656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Брендовый спрос — </a:t>
            </a:r>
            <a:pPr indent="0" marL="0">
              <a:buNone/>
            </a:pP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максимум за всё время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150876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Wordstat, сумма по трём написаниям бренда, январь 2024 — август 2026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" y="2103120"/>
          <a:ext cx="11368735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Shape 4"/>
          <p:cNvSpPr/>
          <p:nvPr/>
        </p:nvSpPr>
        <p:spPr>
          <a:xfrm>
            <a:off x="411480" y="4846320"/>
            <a:ext cx="3655466" cy="1371600"/>
          </a:xfrm>
          <a:prstGeom prst="roundRect">
            <a:avLst>
              <a:gd name="adj" fmla="val 3333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30936" y="5010912"/>
            <a:ext cx="32165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ПЕРИОД ПРОЕКТА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630936" y="5266944"/>
            <a:ext cx="32165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4,4 млн</a:t>
            </a:r>
            <a:endParaRPr lang="en-US" sz="3000" dirty="0"/>
          </a:p>
        </p:txBody>
      </p:sp>
      <p:sp>
        <p:nvSpPr>
          <p:cNvPr id="12" name="Text 7"/>
          <p:cNvSpPr txBox="1"/>
          <p:nvPr/>
        </p:nvSpPr>
        <p:spPr>
          <a:xfrm>
            <a:off x="630936" y="5833872"/>
            <a:ext cx="32165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ноя 2025 — авг 2026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268114" y="4846320"/>
            <a:ext cx="3655466" cy="1371600"/>
          </a:xfrm>
          <a:prstGeom prst="roundRect">
            <a:avLst>
              <a:gd name="adj" fmla="val 3333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487570" y="5010912"/>
            <a:ext cx="32165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БАЗА СРАВНЕНИЯ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4487570" y="5266944"/>
            <a:ext cx="32165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3,6 млн</a:t>
            </a:r>
            <a:endParaRPr lang="en-US" sz="3000" dirty="0"/>
          </a:p>
        </p:txBody>
      </p:sp>
      <p:sp>
        <p:nvSpPr>
          <p:cNvPr id="16" name="Text 11"/>
          <p:cNvSpPr txBox="1"/>
          <p:nvPr/>
        </p:nvSpPr>
        <p:spPr>
          <a:xfrm>
            <a:off x="4487570" y="5833872"/>
            <a:ext cx="32165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ноя 2024 — авг 2025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124749" y="4846320"/>
            <a:ext cx="3655466" cy="1371600"/>
          </a:xfrm>
          <a:prstGeom prst="roundRect">
            <a:avLst>
              <a:gd name="adj" fmla="val 3333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344205" y="5010912"/>
            <a:ext cx="32165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ИЗМЕНЕНИЕ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8344205" y="5266944"/>
            <a:ext cx="32165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+25,1%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8344205" y="5833872"/>
            <a:ext cx="32165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 всем написаниям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411480" y="64008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Август 2026 — абсолютный пик: 655 634 запроса. Все регионы и устройства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advi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pic>
        <p:nvPicPr>
          <p:cNvPr id="3" name="Image 1" descr="logo-mid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6616"/>
            <a:ext cx="676656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Период проекта </a:t>
            </a:r>
            <a:pPr indent="0" marL="0">
              <a:buNone/>
            </a:pP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 тем же месяцам годом раньше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150876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Ноябрь 2025 — август 2026 против ноября 2024 — августа 2025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" y="2103120"/>
          <a:ext cx="11368735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Shape 4"/>
          <p:cNvSpPr/>
          <p:nvPr/>
        </p:nvSpPr>
        <p:spPr>
          <a:xfrm>
            <a:off x="411480" y="5166360"/>
            <a:ext cx="11368735" cy="1005840"/>
          </a:xfrm>
          <a:prstGeom prst="roundRect">
            <a:avLst>
              <a:gd name="adj" fmla="val 4545"/>
            </a:avLst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30936" y="5303520"/>
            <a:ext cx="10929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ДИНАМИКА ПО НАПИСАНИЯМ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630936" y="5568696"/>
            <a:ext cx="1092982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Все написания +25,0% · Midea +29,8% · Мидея -7,3% · Мидеа +35,7%. Снижение по написанию «Мидея» объясняется разовым всплеском весной 2025 года: 108 тыс. запросов в марте против обычных 13–28 тыс.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411480" y="64008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Wordstat, все регионы и устройства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advi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pic>
        <p:nvPicPr>
          <p:cNvPr id="3" name="Image 1" descr="logo-mid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6616"/>
            <a:ext cx="676656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показал </a:t>
            </a:r>
            <a:pPr indent="0" marL="0">
              <a:buNone/>
            </a:pP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сезон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150876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Две сильные стороны, два ограничения и два вывода на будущее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11480" y="2148840"/>
            <a:ext cx="3655466" cy="1920240"/>
          </a:xfrm>
          <a:prstGeom prst="roundRect">
            <a:avLst>
              <a:gd name="adj" fmla="val 2381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0936" y="22951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331720"/>
            <a:ext cx="2658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СИЛЬНАЯ СТОРОНА</a:t>
            </a:r>
            <a:endParaRPr lang="en-US" sz="850" dirty="0"/>
          </a:p>
        </p:txBody>
      </p:sp>
      <p:sp>
        <p:nvSpPr>
          <p:cNvPr id="11" name="Text 7"/>
          <p:cNvSpPr txBox="1"/>
          <p:nvPr/>
        </p:nvSpPr>
        <p:spPr>
          <a:xfrm>
            <a:off x="630936" y="2642616"/>
            <a:ext cx="32165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Большой охват по низкой медийной стоимости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30936" y="3209544"/>
            <a:ext cx="321655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50,2 млн просмотров при медийной стоимости 0,44 ₽. Разброс по выпускам — от 0,26 до 0,58 ₽.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68114" y="2148840"/>
            <a:ext cx="3655466" cy="1920240"/>
          </a:xfrm>
          <a:prstGeom prst="roundRect">
            <a:avLst>
              <a:gd name="adj" fmla="val 2381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487570" y="22951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045354" y="2331720"/>
            <a:ext cx="2658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СИЛЬНАЯ СТОРОНА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4487570" y="2642616"/>
            <a:ext cx="32165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Брендовый спрос на максимуме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487570" y="3209544"/>
            <a:ext cx="321655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+25,1% за период проекта, август — пик за 32 месяца наблюдений.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24749" y="2148840"/>
            <a:ext cx="3655466" cy="1920240"/>
          </a:xfrm>
          <a:prstGeom prst="roundRect">
            <a:avLst>
              <a:gd name="adj" fmla="val 2381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344205" y="22951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8901989" y="2331720"/>
            <a:ext cx="2658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 НА БУДУЩЕЕ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8344205" y="2642616"/>
            <a:ext cx="32165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Объём даёт видео, вовлечение — механика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8344205" y="3209544"/>
            <a:ext cx="321655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78% просмотров от видео, но половину реакций дают конкурсы и страница гостя.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11480" y="4251960"/>
            <a:ext cx="3655466" cy="1920240"/>
          </a:xfrm>
          <a:prstGeom prst="roundRect">
            <a:avLst>
              <a:gd name="adj" fmla="val 2381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30936" y="43982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188720" y="4434840"/>
            <a:ext cx="2658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ОГРАНИЧЕНИЕ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630936" y="4745736"/>
            <a:ext cx="32165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Длинные выпуски не досматривают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630936" y="5312664"/>
            <a:ext cx="321655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 75% ролика доходили 3,4% зрителей в выпусках 01–06. Формат 33–39 минут слишком длинный.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268114" y="4251960"/>
            <a:ext cx="3655466" cy="1920240"/>
          </a:xfrm>
          <a:prstGeom prst="roundRect">
            <a:avLst>
              <a:gd name="adj" fmla="val 2381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487570" y="43982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5045354" y="4434840"/>
            <a:ext cx="2658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ОГРАНИЧЕНИЕ</a:t>
            </a:r>
            <a:endParaRPr lang="en-US" sz="850" dirty="0"/>
          </a:p>
        </p:txBody>
      </p:sp>
      <p:sp>
        <p:nvSpPr>
          <p:cNvPr id="31" name="Text 27"/>
          <p:cNvSpPr txBox="1"/>
          <p:nvPr/>
        </p:nvSpPr>
        <p:spPr>
          <a:xfrm>
            <a:off x="4487570" y="4745736"/>
            <a:ext cx="32165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Собственный продакшн — самая дорогая часть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4487570" y="5312664"/>
            <a:ext cx="321655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Полная стоимость просмотра 1,78 ₽ против 0,36 ₽ медийной. Три четверти бюджета — создание контента.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8124749" y="4251960"/>
            <a:ext cx="3655466" cy="1920240"/>
          </a:xfrm>
          <a:prstGeom prst="roundRect">
            <a:avLst>
              <a:gd name="adj" fmla="val 2381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344205" y="43982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06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8901989" y="4434840"/>
            <a:ext cx="2658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 НА БУДУЩЕЕ</a:t>
            </a:r>
            <a:endParaRPr lang="en-US" sz="850" dirty="0"/>
          </a:p>
        </p:txBody>
      </p:sp>
      <p:sp>
        <p:nvSpPr>
          <p:cNvPr id="36" name="Text 32"/>
          <p:cNvSpPr txBox="1"/>
          <p:nvPr/>
        </p:nvSpPr>
        <p:spPr>
          <a:xfrm>
            <a:off x="8344205" y="4745736"/>
            <a:ext cx="32165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Конкурсы привлекают призоловов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8344205" y="5312664"/>
            <a:ext cx="321655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пяти выпусках из двенадцати комментарии — шаблонные ответы ради приза, без просмотра выпуска.</a:t>
            </a:r>
            <a:endParaRPr lang="en-US" sz="1050" dirty="0"/>
          </a:p>
        </p:txBody>
      </p:sp>
      <p:sp>
        <p:nvSpPr>
          <p:cNvPr id="38" name="Text 34"/>
          <p:cNvSpPr txBox="1"/>
          <p:nvPr/>
        </p:nvSpPr>
        <p:spPr>
          <a:xfrm>
            <a:off x="411480" y="64008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Подробная детализация по каждому выводу — в интерактивном дашборде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advi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pic>
        <p:nvPicPr>
          <p:cNvPr id="3" name="Image 1" descr="logo-mid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6616"/>
            <a:ext cx="676656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Три критерия и </a:t>
            </a:r>
            <a:pPr indent="0" marL="0">
              <a:buNone/>
            </a:pP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три предложения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150876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 выводов сезона вывели три критерия и по ним подбирали следующие активности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11480" y="2148840"/>
            <a:ext cx="3655466" cy="1188720"/>
          </a:xfrm>
          <a:prstGeom prst="roundRect">
            <a:avLst>
              <a:gd name="adj" fmla="val 3846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0936" y="227685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033272" y="2313432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Дешёвый охват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30936" y="2679192"/>
            <a:ext cx="32165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Сохраняем низкую стоимость контакта, но без затрат на собственный продакшн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268114" y="2148840"/>
            <a:ext cx="3655466" cy="1188720"/>
          </a:xfrm>
          <a:prstGeom prst="roundRect">
            <a:avLst>
              <a:gd name="adj" fmla="val 3846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87570" y="227685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889906" y="2313432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Новые аудитории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487570" y="2679192"/>
            <a:ext cx="32165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Шоу говорило со зрителями VK. Нужны другие сегменты и площадки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24749" y="2148840"/>
            <a:ext cx="3655466" cy="1188720"/>
          </a:xfrm>
          <a:prstGeom prst="roundRect">
            <a:avLst>
              <a:gd name="adj" fmla="val 3846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344205" y="227685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8746541" y="2313432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Вовлечённость в продукт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8344205" y="2679192"/>
            <a:ext cx="32165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Короткие форматы, где техника — часть сюжета, а не вставка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520440"/>
          <a:ext cx="1136873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00400"/>
                <a:gridCol w="1554480"/>
                <a:gridCol w="3596335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Предложение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Что покупаем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Бюджет без НДС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A8F9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Статус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Короткие видео: баннеры и UGC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62 млн показов, охват 31 млн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E312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3,31 млн ₽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Нужны примеры и подтверждение стоимости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Спецпроекты с блогерами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 авторов, 3,6 млн просмотров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E312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13,95 млн ₽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Ждём обратную связь по составу авторов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AEO/GEO по пылесосам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Видимость бренда в ответах AI, 6 месяцев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E312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208 тыс. ₽ / мес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BDC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Нужны объём текстов и процесс проверки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</a:tbl>
          </a:graphicData>
        </a:graphic>
      </p:graphicFrame>
      <p:sp>
        <p:nvSpPr>
          <p:cNvPr id="21" name="Shape 16"/>
          <p:cNvSpPr/>
          <p:nvPr/>
        </p:nvSpPr>
        <p:spPr>
          <a:xfrm>
            <a:off x="411480" y="5532120"/>
            <a:ext cx="11368735" cy="731520"/>
          </a:xfrm>
          <a:prstGeom prst="roundRect">
            <a:avLst>
              <a:gd name="adj" fmla="val 6250"/>
            </a:avLst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30936" y="5669280"/>
            <a:ext cx="10929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КАК СРАВНИВАТЬ СТОИМОСТЬ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" y="5934456"/>
            <a:ext cx="109298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Сравнивать стоимость контакта корректно не с медийными 0,44 ₽, а с полной стоимостью просмотра 1,78 ₽.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411480" y="64008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 AEO/GEO стоимость указана за месяц работ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advi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384048" cy="384048"/>
          </a:xfrm>
          <a:prstGeom prst="rect">
            <a:avLst/>
          </a:prstGeom>
        </p:spPr>
      </p:pic>
      <p:pic>
        <p:nvPicPr>
          <p:cNvPr id="3" name="Image 1" descr="logo-mid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6616"/>
            <a:ext cx="676656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314432" y="347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agency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115568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направляем и </a:t>
            </a:r>
            <a:pPr indent="0" marL="0">
              <a:buNone/>
            </a:pPr>
            <a:r>
              <a:rPr lang="en-US" sz="260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нужно от Midea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411480" y="2011680"/>
            <a:ext cx="5524348" cy="3017520"/>
          </a:xfrm>
          <a:prstGeom prst="roundRect">
            <a:avLst>
              <a:gd name="adj" fmla="val 1515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2194560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НАПРАВЛЯЕМ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587752"/>
            <a:ext cx="49757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Презентацию и детальный медиаплан по блогерам с разбивкой по авторам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Презентацию и медиаплан по AEO/GEO с объёмом текстов и процессом проверки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Материалы по коротким видео: примеры, кейсы, подтверждение стоимости, описание модерации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55868" y="2011680"/>
            <a:ext cx="5524348" cy="3017520"/>
          </a:xfrm>
          <a:prstGeom prst="roundRect">
            <a:avLst>
              <a:gd name="adj" fmla="val 1515"/>
            </a:avLst>
          </a:prstGeom>
          <a:solidFill>
            <a:srgbClr val="2E2E2E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530188" y="2194560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EE312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НУЖНО ОТ MIDEA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530188" y="2587752"/>
            <a:ext cx="49757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Обратная связь по составу авторов, когда определится бюджет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 по AEO/GEO после уточнений по текстам и источникам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9B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Распределение ответственности по сайту и перечень допустимых правок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11480" y="5212080"/>
            <a:ext cx="11368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Отдельно вернёмся с расчётом по передаче данных в ОРД на 2027 год — текущая передача оплачена до конца 2026 года.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AdVisor Media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Главный ингредиент × Midea — итоги сезона</dc:title>
  <dc:subject>PptxGenJS Presentation</dc:subject>
  <dc:creator>AdVisor Media</dc:creator>
  <cp:lastModifiedBy>AdVisor Media</cp:lastModifiedBy>
  <cp:revision>1</cp:revision>
  <dcterms:created xsi:type="dcterms:W3CDTF">2026-10-01T12:33:45Z</dcterms:created>
  <dcterms:modified xsi:type="dcterms:W3CDTF">2026-10-01T12:33:45Z</dcterms:modified>
</cp:coreProperties>
</file>
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Бюджет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B63CE"/>
              </a:solidFill>
              <a:ln w="25400" cap="flat">
                <a:solidFill>
                  <a:srgbClr val="F4F6F9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7A6BE0"/>
              </a:solidFill>
              <a:ln w="25400" cap="flat">
                <a:solidFill>
                  <a:srgbClr val="F4F6F9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.0&quot; млн ₽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.0&quot; млн ₽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&quot; млн ₽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Медиа и управление</c:v>
                </c:pt>
                <c:pt idx="1">
                  <c:v>Гонорары, права и продакшн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22.4</c:v>
                </c:pt>
                <c:pt idx="1">
                  <c:v>67.2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4637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Просмотры, млн</c:v>
                </c:pt>
              </c:strCache>
            </c:strRef>
          </c:tx>
          <c:spPr>
            <a:solidFill>
              <a:srgbClr val="0B63C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218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Ноя</c:v>
                  </c:pt>
                  <c:pt idx="1">
                    <c:v>Дек</c:v>
                  </c:pt>
                  <c:pt idx="2">
                    <c:v>Янв</c:v>
                  </c:pt>
                  <c:pt idx="3">
                    <c:v>Фев</c:v>
                  </c:pt>
                  <c:pt idx="4">
                    <c:v>Мар</c:v>
                  </c:pt>
                  <c:pt idx="5">
                    <c:v>Апр</c:v>
                  </c:pt>
                  <c:pt idx="6">
                    <c:v>Май</c:v>
                  </c:pt>
                  <c:pt idx="7">
                    <c:v>Июн</c:v>
                  </c:pt>
                  <c:pt idx="8">
                    <c:v>Июл</c:v>
                  </c:pt>
                  <c:pt idx="9">
                    <c:v>Авг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4.53</c:v>
                </c:pt>
                <c:pt idx="1">
                  <c:v>8.1</c:v>
                </c:pt>
                <c:pt idx="2">
                  <c:v>9.49</c:v>
                </c:pt>
                <c:pt idx="3">
                  <c:v>11.35</c:v>
                </c:pt>
                <c:pt idx="4">
                  <c:v>14.03</c:v>
                </c:pt>
                <c:pt idx="5">
                  <c:v>4.04</c:v>
                </c:pt>
                <c:pt idx="6">
                  <c:v>1.84</c:v>
                </c:pt>
                <c:pt idx="7">
                  <c:v>3.28</c:v>
                </c:pt>
                <c:pt idx="8">
                  <c:v>3.99</c:v>
                </c:pt>
                <c:pt idx="9">
                  <c:v>3.15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50" u="none">
                  <a:solidFill>
                    <a:srgbClr val="1218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463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просмотров</c:v>
                </c:pt>
              </c:strCache>
            </c:strRef>
          </c:tx>
          <c:spPr>
            <a:solidFill>
              <a:srgbClr val="0B63C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18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Видео в Медиатеке</c:v>
                  </c:pt>
                  <c:pt idx="1">
                    <c:v>Конкурсный пост</c:v>
                  </c:pt>
                  <c:pt idx="2">
                    <c:v>Страница гостя</c:v>
                  </c:pt>
                  <c:pt idx="3">
                    <c:v>Пост сообщества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77.7</c:v>
                </c:pt>
                <c:pt idx="1">
                  <c:v>18.6</c:v>
                </c:pt>
                <c:pt idx="2">
                  <c:v>3.5</c:v>
                </c:pt>
                <c:pt idx="3">
                  <c:v>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Доля реакций</c:v>
                </c:pt>
              </c:strCache>
            </c:strRef>
          </c:tx>
          <c:spPr>
            <a:solidFill>
              <a:srgbClr val="3FC3E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18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Видео в Медиатеке</c:v>
                  </c:pt>
                  <c:pt idx="1">
                    <c:v>Конкурсный пост</c:v>
                  </c:pt>
                  <c:pt idx="2">
                    <c:v>Страница гостя</c:v>
                  </c:pt>
                  <c:pt idx="3">
                    <c:v>Пост сообщества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51</c:v>
                </c:pt>
                <c:pt idx="1">
                  <c:v>27.3</c:v>
                </c:pt>
                <c:pt idx="2">
                  <c:v>17.8</c:v>
                </c:pt>
                <c:pt idx="3">
                  <c:v>3.9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1218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463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4637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Досмотрели до 75%</c:v>
                </c:pt>
              </c:strCache>
            </c:strRef>
          </c:tx>
          <c:spPr>
            <a:solidFill>
              <a:srgbClr val="D98A0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218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01 · Денис</c:v>
                  </c:pt>
                  <c:pt idx="1">
                    <c:v>02 · Ольга</c:v>
                  </c:pt>
                  <c:pt idx="2">
                    <c:v>03 · Слава</c:v>
                  </c:pt>
                  <c:pt idx="3">
                    <c:v>04 · Карина</c:v>
                  </c:pt>
                  <c:pt idx="4">
                    <c:v>05 · Ольга</c:v>
                  </c:pt>
                  <c:pt idx="5">
                    <c:v>06 · Анна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2.16</c:v>
                </c:pt>
                <c:pt idx="1">
                  <c:v>2.85</c:v>
                </c:pt>
                <c:pt idx="2">
                  <c:v>2.14</c:v>
                </c:pt>
                <c:pt idx="3">
                  <c:v>4.6</c:v>
                </c:pt>
                <c:pt idx="4">
                  <c:v>8.92</c:v>
                </c:pt>
                <c:pt idx="5">
                  <c:v>2.32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50" u="none">
                  <a:solidFill>
                    <a:srgbClr val="1218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463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Запросов в месяц</c:v>
                </c:pt>
              </c:strCache>
            </c:strRef>
          </c:tx>
          <c:spPr>
            <a:solidFill>
              <a:srgbClr val="0B63CE"/>
            </a:solidFill>
            <a:ln w="38100" cap="flat">
              <a:solidFill>
                <a:srgbClr val="0B63C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B63CE"/>
              </a:solidFill>
              <a:ln w="9525" cap="flat">
                <a:solidFill>
                  <a:srgbClr val="0B63C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Sheet1!$A$2:$A$33</c:f>
              <c:multiLvlStrCache>
                <c:ptCount val="32"/>
                <c:lvl>
                  <c:pt idx="0">
                    <c:v>янв 24</c:v>
                  </c:pt>
                  <c:pt idx="1">
                    <c:v/>
                  </c:pt>
                  <c:pt idx="2">
                    <c:v/>
                  </c:pt>
                  <c:pt idx="3">
                    <c:v>апр 24</c:v>
                  </c:pt>
                  <c:pt idx="4">
                    <c:v/>
                  </c:pt>
                  <c:pt idx="5">
                    <c:v/>
                  </c:pt>
                  <c:pt idx="6">
                    <c:v>июл 24</c:v>
                  </c:pt>
                  <c:pt idx="7">
                    <c:v/>
                  </c:pt>
                  <c:pt idx="8">
                    <c:v/>
                  </c:pt>
                  <c:pt idx="9">
                    <c:v>окт 24</c:v>
                  </c:pt>
                  <c:pt idx="10">
                    <c:v/>
                  </c:pt>
                  <c:pt idx="11">
                    <c:v/>
                  </c:pt>
                  <c:pt idx="12">
                    <c:v>янв 25</c:v>
                  </c:pt>
                  <c:pt idx="13">
                    <c:v/>
                  </c:pt>
                  <c:pt idx="14">
                    <c:v/>
                  </c:pt>
                  <c:pt idx="15">
                    <c:v>апр 25</c:v>
                  </c:pt>
                  <c:pt idx="16">
                    <c:v/>
                  </c:pt>
                  <c:pt idx="17">
                    <c:v/>
                  </c:pt>
                  <c:pt idx="18">
                    <c:v>июл 25</c:v>
                  </c:pt>
                  <c:pt idx="19">
                    <c:v/>
                  </c:pt>
                  <c:pt idx="20">
                    <c:v/>
                  </c:pt>
                  <c:pt idx="21">
                    <c:v>окт 25</c:v>
                  </c:pt>
                  <c:pt idx="22">
                    <c:v/>
                  </c:pt>
                  <c:pt idx="23">
                    <c:v/>
                  </c:pt>
                  <c:pt idx="24">
                    <c:v>янв 26</c:v>
                  </c:pt>
                  <c:pt idx="25">
                    <c:v/>
                  </c:pt>
                  <c:pt idx="26">
                    <c:v/>
                  </c:pt>
                  <c:pt idx="27">
                    <c:v>апр 26</c:v>
                  </c:pt>
                  <c:pt idx="28">
                    <c:v/>
                  </c:pt>
                  <c:pt idx="29">
                    <c:v/>
                  </c:pt>
                  <c:pt idx="30">
                    <c:v>июл 26</c:v>
                  </c:pt>
                  <c:pt idx="31">
                    <c:v/>
                  </c:pt>
                </c:lvl>
              </c:multiLvlStrCache>
            </c:multiLvlStrRef>
          </c:cat>
          <c:val>
            <c:numRef>
              <c:f>Sheet1!$B$2:$B$33</c:f>
              <c:numCache>
                <c:formatCode>General</c:formatCode>
                <c:ptCount val="32"/>
                <c:pt idx="0">
                  <c:v>277236</c:v>
                </c:pt>
                <c:pt idx="1">
                  <c:v>251449</c:v>
                </c:pt>
                <c:pt idx="2">
                  <c:v>269179</c:v>
                </c:pt>
                <c:pt idx="3">
                  <c:v>262019</c:v>
                </c:pt>
                <c:pt idx="4">
                  <c:v>293352</c:v>
                </c:pt>
                <c:pt idx="5">
                  <c:v>311094</c:v>
                </c:pt>
                <c:pt idx="6">
                  <c:v>325497</c:v>
                </c:pt>
                <c:pt idx="7">
                  <c:v>255267</c:v>
                </c:pt>
                <c:pt idx="8">
                  <c:v>237968</c:v>
                </c:pt>
                <c:pt idx="9">
                  <c:v>269830</c:v>
                </c:pt>
                <c:pt idx="10">
                  <c:v>314544</c:v>
                </c:pt>
                <c:pt idx="11">
                  <c:v>316532</c:v>
                </c:pt>
                <c:pt idx="12">
                  <c:v>317494</c:v>
                </c:pt>
                <c:pt idx="13">
                  <c:v>319234</c:v>
                </c:pt>
                <c:pt idx="14">
                  <c:v>392458</c:v>
                </c:pt>
                <c:pt idx="15">
                  <c:v>333426</c:v>
                </c:pt>
                <c:pt idx="16">
                  <c:v>331813</c:v>
                </c:pt>
                <c:pt idx="17">
                  <c:v>373244</c:v>
                </c:pt>
                <c:pt idx="18">
                  <c:v>457596</c:v>
                </c:pt>
                <c:pt idx="19">
                  <c:v>401006</c:v>
                </c:pt>
                <c:pt idx="20">
                  <c:v>367057</c:v>
                </c:pt>
                <c:pt idx="21">
                  <c:v>409644</c:v>
                </c:pt>
                <c:pt idx="22">
                  <c:v>451403</c:v>
                </c:pt>
                <c:pt idx="23">
                  <c:v>415130</c:v>
                </c:pt>
                <c:pt idx="24">
                  <c:v>370467</c:v>
                </c:pt>
                <c:pt idx="25">
                  <c:v>328316</c:v>
                </c:pt>
                <c:pt idx="26">
                  <c:v>381623</c:v>
                </c:pt>
                <c:pt idx="27">
                  <c:v>379423</c:v>
                </c:pt>
                <c:pt idx="28">
                  <c:v>403959</c:v>
                </c:pt>
                <c:pt idx="29">
                  <c:v>468223</c:v>
                </c:pt>
                <c:pt idx="30">
                  <c:v>595304</c:v>
                </c:pt>
                <c:pt idx="31">
                  <c:v>655634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463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F"/>
              </a:solidFill>
              <a:prstDash val="solid"/>
              <a:round/>
            </a:ln>
          </c:spPr>
        </c:majorGridlines>
        <c:numFmt formatCode="# 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463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ноя 2024 — авг 2025</c:v>
                </c:pt>
              </c:strCache>
            </c:strRef>
          </c:tx>
          <c:spPr>
            <a:solidFill>
              <a:srgbClr val="A7B6C5"/>
            </a:solidFill>
            <a:effectLst/>
          </c:spPr>
          <c:invertIfNegative val="0"/>
          <c:dLbls>
            <c:numFmt formatCode="0.00&quot; млн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18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Все написания</c:v>
                  </c:pt>
                  <c:pt idx="1">
                    <c:v>Midea</c:v>
                  </c:pt>
                  <c:pt idx="2">
                    <c:v>Мидея</c:v>
                  </c:pt>
                  <c:pt idx="3">
                    <c:v>Мидеа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3.56</c:v>
                </c:pt>
                <c:pt idx="1">
                  <c:v>2.45</c:v>
                </c:pt>
                <c:pt idx="2">
                  <c:v>0.55</c:v>
                </c:pt>
                <c:pt idx="3">
                  <c:v>0.56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ноя 2025 — авг 2026</c:v>
                </c:pt>
              </c:strCache>
            </c:strRef>
          </c:tx>
          <c:spPr>
            <a:solidFill>
              <a:srgbClr val="0B63CE"/>
            </a:solidFill>
            <a:effectLst/>
          </c:spPr>
          <c:invertIfNegative val="0"/>
          <c:dLbls>
            <c:numFmt formatCode="0.00&quot; млн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18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Все написания</c:v>
                  </c:pt>
                  <c:pt idx="1">
                    <c:v>Midea</c:v>
                  </c:pt>
                  <c:pt idx="2">
                    <c:v>Мидея</c:v>
                  </c:pt>
                  <c:pt idx="3">
                    <c:v>Мидеа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4.45</c:v>
                </c:pt>
                <c:pt idx="1">
                  <c:v>3.18</c:v>
                </c:pt>
                <c:pt idx="2">
                  <c:v>0.51</c:v>
                </c:pt>
                <c:pt idx="3">
                  <c:v>0.76</c:v>
                </c:pt>
              </c:numCache>
            </c:numRef>
          </c:val>
        </c:ser>
        <c:dLbls>
          <c:numFmt formatCode="0.00&quot; млн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1218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463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4637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Итоги спецпроекта. Все цифры — из интерактивного дашборда, который направлен отдельно.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120640" cy="5120640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574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3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MIDEA × ADVISOR MEDIA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8595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«Главный ингредиент»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сезона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6052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2025 — август 2026. 12 выпусков, 27 публикаций, 50,2 млн просмотров.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к встрече 29.09.2026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КОРОТКО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 в четырёх цифрах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90974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Десять месяцев регулярного присутствия бренда в ленте VK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2154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9808" y="1965960"/>
            <a:ext cx="2199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ПРОСМОТРОВ ЗА СЕЗОН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221992"/>
            <a:ext cx="21998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50,2 млн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825496"/>
            <a:ext cx="21998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 в Медиатеке VK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79394" y="1783080"/>
            <a:ext cx="2602154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80562" y="1965960"/>
            <a:ext cx="2199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ПРОСМОТРА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580562" y="2221992"/>
            <a:ext cx="21998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0,44 ₽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3580562" y="2825496"/>
            <a:ext cx="21998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медийная, видео и конкурсы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0148" y="1783080"/>
            <a:ext cx="2602154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11316" y="1965960"/>
            <a:ext cx="2199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БРЕНДОВЫЙ СПРОС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411316" y="2221992"/>
            <a:ext cx="21998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A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+25,1%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11316" y="2825496"/>
            <a:ext cx="21998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тем же месяцам годом раньше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40901" y="1783080"/>
            <a:ext cx="2602154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42069" y="1965960"/>
            <a:ext cx="2199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ТОП-ПОСТОВ MIDEA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242069" y="2221992"/>
            <a:ext cx="21998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из 4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9242069" y="2825496"/>
            <a:ext cx="21998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конкурсы шоу, данные LiveDune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79476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270248"/>
            <a:ext cx="34238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публикаций: 12 выпусков, 12 конкурсов, 3 суперрозыгрыша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246778" y="379476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14 024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4246778" y="4270248"/>
            <a:ext cx="34238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комментария под выпусками и конкурсами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944917" y="379476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656 тыс.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7944917" y="4270248"/>
            <a:ext cx="34238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запросов в августе — пик за 32 месяца наблюдений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074920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49808" y="522122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D98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ВАЖНАЯ ОГОВОРКА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5458968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брендового спроса — совокупный результат спецпроекта и параллельных медийных кампаний Midea. Выделить вклад одного канала по данным Wordstat нельзя.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1908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статистика VK, Wordstat, LiveDune. Ноябрь 2025 — август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КОНТАКТА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уровня стоимости просмотра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90974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и та же кампания стоит по-разному в зависимости от того, что включать в расчёт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15258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2130552"/>
            <a:ext cx="30031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0,36 ₽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971800"/>
            <a:ext cx="30031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18,3 млн ₽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35584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Продвижение выпусков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3666744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медийных бюджетов по 12 выпускам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8218" y="1874520"/>
            <a:ext cx="3515258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94250" y="2130552"/>
            <a:ext cx="30031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0,44 ₽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594250" y="2971800"/>
            <a:ext cx="30031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22,4 млн ₽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4250" y="335584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Медиа и управление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94250" y="3666744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Продвижение выпусков, конкурсы и управление проектом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27797" y="1874520"/>
            <a:ext cx="3515258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83829" y="2130552"/>
            <a:ext cx="30031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1,78 ₽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8383829" y="2971800"/>
            <a:ext cx="30031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89,5 млн ₽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83829" y="335584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бюджет сезона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383829" y="3666744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гонорарами гостей, правами на амбассадора и продакшном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11094415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485546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ИЗ ЭТОГО СЛЕДУЕТ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5093208"/>
            <a:ext cx="106920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четверти бюджета ушли не в охват, а в создание контента. Полная стоимость просмотра — 1,78 ₽, это в четыре раза выше медийной. Поэтому следующие форматы строим на готовом контенте и аудитории авторов.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1908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суммы без НДС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чего сложился бюджет сезона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90974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89,5 млн ₽: четверть на продвижение, три четверти на создание контента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45720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2011680"/>
          <a:ext cx="615665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86868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Статья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просмотр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Медиа и управление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 млн 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 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Гонорары, права и продакшн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67,2 млн 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89,5 млн 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 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0" y="4023360"/>
            <a:ext cx="6156655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5687568" y="4169664"/>
            <a:ext cx="57543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ВТОРОЙ СТАТЬИ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5687568" y="4407408"/>
            <a:ext cx="57543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Гонорары гостей — 27,2 млн ₽ за 11 блогеров. Права на амбассадора — 25,1 млн ₽, эксклюзив и права на изображение, годовой пакет. Продакшн — 14,9 млн ₽: крю, оборудование, декорации.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1908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суммы без НДС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Просмотры по месяцам сезона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90974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публикаций за десять месяцев — примерно одно касание с брендом каждые полторы недели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11094415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57800"/>
            <a:ext cx="11094415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9808" y="540410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РАЗМЕЩЕНИЙ ПО МЕСЯЦАМ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5641848"/>
            <a:ext cx="106920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 — 1 · Дек — 3 · Янв — 2 · Фев — 2 · Мар — 5 · Апр — 2 · Май — 3 · Июн — 2 · Июл — 4 · Авг — 3. Больше всего в марте — пять размещений всех трёх типов.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1908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Просмотры по всем публикациям месяца: выпуски, конкурсы и суперрозыгрыши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Двенадцать выпусков сезона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90974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Основные показатели по каждому выпуску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06040"/>
                <a:gridCol w="960120"/>
                <a:gridCol w="1600200"/>
                <a:gridCol w="1600200"/>
                <a:gridCol w="914400"/>
                <a:gridCol w="1325880"/>
                <a:gridCol w="1627632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Гость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Просмотры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Бюджет, 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CPV, 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Реакции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Комм.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Денис Кукояка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24.11.2025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4 527 129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2 199 902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5 238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Ольга Белькович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22.12.2025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4 140 750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2 189 440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6 928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3 413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Слава Копейкин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22.01.2026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9 456 534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2 421 942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14 883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Карина Кросс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14.02.2026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10 197 390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3 028 157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9 852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Ольга Белькович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07.03.2026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3 210 015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1 254 302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4 193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Анна Хилькевич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26.03.2026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8 515 462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3 043 653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12 733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1 366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Алексей Столяров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28.04.2026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2 788 407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998 566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3 205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Аня Покров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14.05.2026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886 312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516 467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3 488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Гоша Карцев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10.06.2026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2 217 020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955 398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6 028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Ксюша Дукалис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03.07.2026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1 497 457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431 641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2 027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Илья Куруч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26.07.2026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925 547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379 458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3 880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Карина Нигай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17.08.2026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1 887 485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855 453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50 249 508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18 274 379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76 222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41908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— медийное продвижение выпуска. CPV итогом — 0,36 ₽ только за видео; 0,44 ₽ с конкурсами и управлением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ЧТО РАБОТАЛО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даёт видео, вовлечение — конкурсы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90974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 собирает 78% просмотров, а остальные площадки при 22% просмотров дают половину реакций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1109441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66360"/>
            <a:ext cx="11094415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9808" y="531266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5550408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Охват и вовлечение жили в разных местах: просмотры давало видео, реакции — механика вокруг него. В следующих активностях вовлекающая механика должна быть внутри самого контента, а не отдельным постом.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1908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Реакции: лайки, комментарии и репосты. Всего 76 222 реакции на 64,6 млн просмотров по всем площадкам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НЕЗАВИСИМАЯ ПРОВЕРКА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четыре топовых поста — конкурсы шоу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90974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LiveDune, динамика аккаунта midearussia во ВКонтакте, 01.10.2025 — 31.08.2026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959352"/>
                <a:gridCol w="1280160"/>
                <a:gridCol w="1645920"/>
                <a:gridCol w="1280160"/>
                <a:gridCol w="16459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Лайки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Комментарии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Репосты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Просмотры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25.03.2026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Конкурс с Анной Хилькевич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1 357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1 238 200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23.01.2026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Конкурс со Славой Копейкиным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1 176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32 615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12.02.2026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Конкурс с Кариной Кросс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1 156 675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12.06.2026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Конкурс с Гошей Карцевым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1 063 518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34340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64024"/>
            <a:ext cx="3423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публикаций аккаунта за период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246778" y="434340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19 134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246778" y="4764024"/>
            <a:ext cx="3423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лайка всего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944917" y="434340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15 119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7944917" y="4764024"/>
            <a:ext cx="3423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комментариев всего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5257800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9808" y="540410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ЗНАЧИТ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" y="5641848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Конкурсные посты спецпроекта оказались самыми вовлекающими публикациями аккаунта за одиннадцать месяцев — по независимым данным, а не по нашей статистике.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1908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LiveDune, отчёт по динамике аккаунта midearussia, стр.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ОГРАНИЧЕНИЕ ФОРМАТА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Длинные выпуски не досматривают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90974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просмотров, в которых ролик досмотрели до 75% и дальше. Выпуски 01–06, сопоставимый период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6878537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01497" y="1783080"/>
            <a:ext cx="3941558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902665" y="1965960"/>
            <a:ext cx="35392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СРЕДНЕМ ПО 01–06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902665" y="2221992"/>
            <a:ext cx="35392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8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3,4%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7902665" y="2825496"/>
            <a:ext cx="3539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зрителей дошли до 75% ролика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701497" y="3383280"/>
            <a:ext cx="394155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902665" y="3529584"/>
            <a:ext cx="35392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DC4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ВЫПУСКИ 07–12 НЕСОПОСТАВИМЫ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902665" y="3767328"/>
            <a:ext cx="353922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апреля VK изменил атрибуцию досмотров. Показатель падает до 0,2% и ниже, но это смена методики подсчёта, а не поведение аудитории. Точную причину VK не подтвердил.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507492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49808" y="522122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ВЫВОД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749808" y="5458968"/>
            <a:ext cx="1069207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 08: в статистике VK 305 855 досмотров, но 304 189 из них — с короткого формата In-stream; в расчётах учтены только 1 666 досмотров самого выпуска. Вывод для следующих активностей: короткий контент, где продукт появляется в первые секунды, а не в середине получасового ролика.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1908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Хронометраж выпусков — 33–39 минут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БРЕНДОВЫЙ СПРОС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Спрос на бренд — максимум за всё время наблюдений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90974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Wordstat, сумма по трём написаниям бренда, январь 2024 — август 2026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11094415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46320"/>
            <a:ext cx="354573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9808" y="5029200"/>
            <a:ext cx="3143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ПЕРИОД ПРОЕКТА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5285232"/>
            <a:ext cx="314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 млн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5888736"/>
            <a:ext cx="314340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 2025 — авг 2026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22978" y="4846320"/>
            <a:ext cx="354573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4146" y="5029200"/>
            <a:ext cx="3143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СРАВНЕНИЯ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524146" y="5285232"/>
            <a:ext cx="314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 млн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4524146" y="5888736"/>
            <a:ext cx="314340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 2024 — авг 2025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97317" y="4846320"/>
            <a:ext cx="354573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98485" y="5029200"/>
            <a:ext cx="3143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ИЗМЕНЕНИЕ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298485" y="5285232"/>
            <a:ext cx="314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A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+25,1%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8298485" y="5888736"/>
            <a:ext cx="314340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всем написаниям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41908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 2026 — абсолютный пик: 655 634 запроса. Все регионы и устройства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БРЕНДОВЫЙ СПРОС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Период проекта к тем же месяцам годом раньше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90974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2025 — август 2026 против ноября 2024 — августа 2025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1109441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66360"/>
            <a:ext cx="11094415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9808" y="531266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ДИНАМИКА ПО НАПИСАНИЯМ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5550408"/>
            <a:ext cx="106920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написания +25,0% · Midea +29,8% · Мидея -7,3% · Мидеа +35,7%. Снижение по написанию «Мидея» объясняется разовым всплеском весной 2025 года: 108 тыс. запросов в марте против обычных 13–28 тыс.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1908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Wordstat, все регионы и устройства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показал сезон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90974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сильные стороны, два ограничения и два вывода на будущее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4573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9808" y="1947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965960"/>
            <a:ext cx="2658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7A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СИЛЬНАЯ СТОРОНА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58568"/>
            <a:ext cx="314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Большой охват по низкой медийной стоимости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825496"/>
            <a:ext cx="31434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50,2 млн просмотров при медийной стоимости 0,44 ₽. Разброс по выпускам — от 0,26 до 0,58 ₽.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2978" y="1783080"/>
            <a:ext cx="354573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24146" y="1947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08778" y="1965960"/>
            <a:ext cx="2658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7A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СИЛЬНАЯ СТОРОНА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524146" y="2258568"/>
            <a:ext cx="314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Брендовый спрос на максимуме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524146" y="2825496"/>
            <a:ext cx="31434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+25,1% за период проекта, август — пик за 32 месяца наблюдений.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97317" y="1783080"/>
            <a:ext cx="354573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98485" y="1947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783117" y="1965960"/>
            <a:ext cx="2658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НА БУДУЩЕЕ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298485" y="2258568"/>
            <a:ext cx="314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даёт видео, вовлечение — механика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298485" y="2825496"/>
            <a:ext cx="31434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 просмотров от видео, но половину реакций дают конкурсы и страница гостя.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354573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4050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069080"/>
            <a:ext cx="2658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D98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ОГРАНИЧЕНИЕ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361688"/>
            <a:ext cx="314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Длинные выпуски не досматривают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4928616"/>
            <a:ext cx="31434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75% ролика доходили 3,4% зрителей в выпусках 01–06. Формат 33–39 минут слишком длинный.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22978" y="3886200"/>
            <a:ext cx="354573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524146" y="4050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008778" y="4069080"/>
            <a:ext cx="2658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D98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ОГРАНИЧЕНИЕ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524146" y="4361688"/>
            <a:ext cx="314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Собственный продакшн — самая дорогая часть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4524146" y="4928616"/>
            <a:ext cx="31434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стоимость просмотра 1,78 ₽ против 0,36 ₽ медийной. Три четверти бюджета — создание контента.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97317" y="3886200"/>
            <a:ext cx="354573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298485" y="4050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783117" y="4069080"/>
            <a:ext cx="2658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НА БУДУЩЕЕ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8298485" y="4361688"/>
            <a:ext cx="314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Конкурсы привлекают призоловов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8298485" y="4928616"/>
            <a:ext cx="31434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пяти выпусках из двенадцати комментарии — шаблонные ответы ради приза, без просмотра выпуска.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1908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Подробная детализация по каждому выводу — в интерактивном дашборде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СЕЗОН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критерия и три предложения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90974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выводов сезона вывели три критерия и по ним подбирали следующие активности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4573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274320" cy="274320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95224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920240"/>
            <a:ext cx="27959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Дешёвый охват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286000"/>
            <a:ext cx="31434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Сохраняем низкую стоимость контакта, но без затрат на собственный продакшн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2978" y="1783080"/>
            <a:ext cx="354573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4146" y="1938528"/>
            <a:ext cx="274320" cy="274320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4146" y="195224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71618" y="1920240"/>
            <a:ext cx="27959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 аудитории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24146" y="2286000"/>
            <a:ext cx="31434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Шоу говорило со зрителями VK. Нужны другие сегменты и площадки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97317" y="1783080"/>
            <a:ext cx="354573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98485" y="1938528"/>
            <a:ext cx="274320" cy="274320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8485" y="195224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45957" y="1920240"/>
            <a:ext cx="27959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Вовлечённость в продукт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98485" y="2286000"/>
            <a:ext cx="31434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Короткие форматы, где техника — часть сюжета, а не вставка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1463040"/>
                <a:gridCol w="332201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Предложение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покупаем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Бюджет без НДС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Короткие видео: баннеры и UGC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млн показов, охват 31 млн, 5 сегментов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 млн 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63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Нужны примеры и подтверждение стоимости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Спецпроекты с блогерами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авторов, 3,6 млн просмотров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13,95 млн 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63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Ждём обратную связь по составу авторов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AEO/GEO по пылесосам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Видимость бренда в ответах AI, 6 месяцев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2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 тыс. ₽ / мес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63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Нужны объём текстов и процесс проверки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127000" dist="25400" dir="5400000">
              <a:srgbClr val="12181F">
                <a:alpha val="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9808" y="576986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0B6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СРАВНИВАТЬ СТОИМОСТЬ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6007608"/>
            <a:ext cx="106920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46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Сравнивать стоимость контакта корректно не с медийными 0,44 ₽, а с полной стоимостью просмотра 1,78 ₽.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1908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Бюджеты по спецпроектам и коротким видео — без НДС. По AEO/GEO стоимость указана за месяц работ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СЛЕДУЮЩИЕ ШАГИ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направляем и что нужно от Midea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3200400"/>
          </a:xfrm>
          <a:prstGeom prst="roundRect">
            <a:avLst>
              <a:gd name="adj" fmla="val 1714"/>
            </a:avLst>
          </a:prstGeom>
          <a:solidFill>
            <a:srgbClr val="1C242D"/>
          </a:solidFill>
          <a:ln w="9525">
            <a:solidFill>
              <a:srgbClr val="2C35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10512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3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НАПРАВЛЯЕМ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481568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7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Презентацию и детальный медиаплан по блогерам с разбивкой по авторам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7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Презентацию и медиаплан по AEO/GEO с объёмом текстов и процессом проверки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7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Материалы по коротким видео: примеры, кейсы, подтверждение стоимости, описание модерации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600200"/>
            <a:ext cx="5364328" cy="3200400"/>
          </a:xfrm>
          <a:prstGeom prst="roundRect">
            <a:avLst>
              <a:gd name="adj" fmla="val 1714"/>
            </a:avLst>
          </a:prstGeom>
          <a:solidFill>
            <a:srgbClr val="1C242D"/>
          </a:solidFill>
          <a:ln w="9525">
            <a:solidFill>
              <a:srgbClr val="2C35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1810512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НУЖНО ОТ MIDEA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194560"/>
            <a:ext cx="481568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7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Обратная связь по составу авторов, когда определится бюджет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7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по AEO/GEO после уточнений по текстам и источникам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7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 ответственности по сайту и перечень допустимых правок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029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Отдельно вернёмся с расчётом по передаче данных в ОРД на 2027 год — текущая передача оплачена до конца 2026 года.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Media · октябрь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AdVisor Media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Главный ингредиент × Midea — итоги сезона</dc:title>
  <dc:subject>PptxGenJS Presentation</dc:subject>
  <dc:creator>AdVisor Media</dc:creator>
  <cp:lastModifiedBy>AdVisor Media</cp:lastModifiedBy>
  <cp:revision>1</cp:revision>
  <dcterms:created xsi:type="dcterms:W3CDTF">2026-10-01T12:02:26Z</dcterms:created>
  <dcterms:modified xsi:type="dcterms:W3CDTF">2026-10-01T12:02:26Z</dcterms:modified>
</cp:coreProperties>
</file>
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8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Два формата: баннерные размещения + UGC контент-завод.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из брифа и вывод: два типа контакта.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Баннер — массовое узнавание, 98% показов.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UGC — доверие и понимание. Производство внутри CPM.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среза VibeVO за 30 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и отчётность.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7.jpeg"/><Relationship Id="rId7" Type="http://schemas.openxmlformats.org/officeDocument/2006/relationships/hyperlink" Target="https://www.tiktok.com/@batya_tiktok/video/767502631560243126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10" Type="http://schemas.openxmlformats.org/officeDocument/2006/relationships/hyperlink" Target="https://www.instagram.com/reel/DcEpQbetaE5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instagram.com/reel/DbImXVMMvrH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pic>
        <p:nvPicPr>
          <p:cNvPr id="5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72768"/>
            <a:ext cx="1920240" cy="72969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468880" y="1572768"/>
            <a:ext cx="36576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</a:t>
            </a:r>
            <a:endParaRPr lang="en-US" sz="2400" dirty="0"/>
          </a:p>
        </p:txBody>
      </p:sp>
      <p:pic>
        <p:nvPicPr>
          <p:cNvPr id="7" name="Image 2" descr="/tmp/w/a/vibevo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763878"/>
            <a:ext cx="1710928" cy="42062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11480" y="2946197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Охватная кампания </a:t>
            </a:r>
            <a:r>
              <a:rPr lang="en-US" sz="32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Midea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 коротких вертикальных видео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411480" y="5257800"/>
            <a:ext cx="11365992" cy="1005840"/>
          </a:xfrm>
          <a:prstGeom prst="roundRect">
            <a:avLst>
              <a:gd name="adj" fmla="val 1272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5A151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85800" y="555040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55504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834640" y="555040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2834640" y="55504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VK Video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83480" y="555040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83480" y="55504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 Shorts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53492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формата: 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баннерные размещения + UGC контент-завод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Задача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рекламной кампании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Повысить узнаваемость Midea среди целевой аудитории и усилить позиции бренда на этапе выбора бытовой техники.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514600"/>
            <a:ext cx="5486400" cy="3383280"/>
          </a:xfrm>
          <a:prstGeom prst="roundRect">
            <a:avLst>
              <a:gd name="adj" fmla="val 378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880360"/>
            <a:ext cx="566928" cy="566928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11" y="303343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34840" y="27889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dirty="0">
                <a:solidFill>
                  <a:srgbClr val="EE3124">
                    <a:alpha val="45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40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ЗНАНИЕ БРЕНДА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4343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Повысить заметность и узнаваемость Midea за счет широкого охвата аудитории в коротких видео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72200" y="2514600"/>
            <a:ext cx="5486400" cy="3383280"/>
          </a:xfrm>
          <a:prstGeom prst="roundRect">
            <a:avLst>
              <a:gd name="adj" fmla="val 378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37960" y="2880360"/>
            <a:ext cx="566928" cy="566928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031" y="3033431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195560" y="27889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dirty="0">
                <a:solidFill>
                  <a:srgbClr val="EE3124">
                    <a:alpha val="45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4000" dirty="0"/>
          </a:p>
        </p:txBody>
      </p:sp>
      <p:sp>
        <p:nvSpPr>
          <p:cNvPr id="20" name="Text 14"/>
          <p:cNvSpPr txBox="1"/>
          <p:nvPr/>
        </p:nvSpPr>
        <p:spPr>
          <a:xfrm>
            <a:off x="653796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РАССМОТРЕНИЕ БРЕНДА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537960" y="4343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Показать, как техника Midea решает конкретные бытовые задачи, и сформировать понятные причины рассматривать бренд при выборе.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Целевая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аудитория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целевая аудитория — пять разных потребностей и пять поводов для коммуникации.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СЕГМЕНТ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160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ПОТРЕБНОСТЬ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20116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ОТВЕЧАЕМ НА ПОТРЕБНОСТЬ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11480" y="2377440"/>
            <a:ext cx="11365992" cy="694944"/>
          </a:xfrm>
          <a:prstGeom prst="roundRect">
            <a:avLst>
              <a:gd name="adj" fmla="val 1315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505456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66" y="2623962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37744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Меньше времени на быт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160520" y="237744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Освободить время и сократить ежедневную бытовую рутину.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2377440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Показываем, как техника берет на себя часть домашних задач: посуду, стирку, уборку и готовку.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11480" y="3163824"/>
            <a:ext cx="11365992" cy="694944"/>
          </a:xfrm>
          <a:prstGeom prst="roundRect">
            <a:avLst>
              <a:gd name="adj" fmla="val 1315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291840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66" y="3410346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1638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Ремонт и новая квартира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160520" y="316382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Подобрать технику для нового пространства и избежать ошибок при обустройстве.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8001000" y="3163824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Помогаем понять, что предусмотреть при ремонте и выборе техники.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11480" y="3950208"/>
            <a:ext cx="11365992" cy="694944"/>
          </a:xfrm>
          <a:prstGeom prst="roundRect">
            <a:avLst>
              <a:gd name="adj" fmla="val 1315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4360" y="4078224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866" y="4196730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34440" y="395020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Интерьер и дизайн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160520" y="395020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Совместить функциональность техники с эстетикой пространства.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8001000" y="3950208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Показываем, как техника вписывается в интерьер.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11480" y="4736592"/>
            <a:ext cx="11365992" cy="694944"/>
          </a:xfrm>
          <a:prstGeom prst="roundRect">
            <a:avLst>
              <a:gd name="adj" fmla="val 1315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94360" y="4864608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866" y="4983114"/>
            <a:ext cx="201900" cy="2019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34440" y="47365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Кулинария и домашняя еда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160520" y="473659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Готовить дома проще и тратить меньше времени на сопутствующую рутину.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8001000" y="4736592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Показываем роль Midea на всем цикле: хранить → приготовить → разогреть → убрать.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11480" y="5522976"/>
            <a:ext cx="11365992" cy="694944"/>
          </a:xfrm>
          <a:prstGeom prst="roundRect">
            <a:avLst>
              <a:gd name="adj" fmla="val 1315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94360" y="5650992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66" y="5769498"/>
            <a:ext cx="201900" cy="2019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234440" y="552297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Разумная покупка и технологии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4160520" y="552297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Разобраться в функциях и понять, за что действительно стоит платить.</a:t>
            </a:r>
            <a:endParaRPr lang="en-US" sz="1150" dirty="0"/>
          </a:p>
        </p:txBody>
      </p:sp>
      <p:sp>
        <p:nvSpPr>
          <p:cNvPr id="42" name="Text 33"/>
          <p:cNvSpPr txBox="1"/>
          <p:nvPr/>
        </p:nvSpPr>
        <p:spPr>
          <a:xfrm>
            <a:off x="8001000" y="5522976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Объясняем функции через реальные сценарии и показываем их практическую ценность.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3977640" y="2377440"/>
            <a:ext cx="0" cy="384048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7818120" y="2377440"/>
            <a:ext cx="0" cy="384048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решаем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задачи кампании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Используем два формата коммуникации, которые дополняют друг друга и работают на разных этапах выбора.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240280"/>
            <a:ext cx="5486400" cy="3977640"/>
          </a:xfrm>
          <a:prstGeom prst="roundRect">
            <a:avLst>
              <a:gd name="adj" fmla="val 321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606040"/>
            <a:ext cx="566928" cy="566928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11" y="275911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26060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БАННЕРНОЕ РАЗМЕЩЕНИЕ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77240" y="34290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E3124">
              <a:alpha val="18000"/>
            </a:srgbClr>
          </a:solidFill>
          <a:ln w="9525">
            <a:solidFill>
              <a:srgbClr val="EE312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6012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Задача: 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знание бренда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делаем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389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размещаем брендированный баннер Midea внутри высокоохватных коротких видео.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5120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в кампании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94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увеличиваем число контактов с брендом и его заметность в ленте.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91072" y="2240280"/>
            <a:ext cx="5486400" cy="3977640"/>
          </a:xfrm>
          <a:prstGeom prst="roundRect">
            <a:avLst>
              <a:gd name="adj" fmla="val 321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56832" y="2606040"/>
            <a:ext cx="566928" cy="566928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9903" y="2759111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2" y="26060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UGC-ВИДЕО БЛОГЕРОВ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656832" y="34290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EE3124">
              <a:alpha val="18000"/>
            </a:srgbClr>
          </a:solidFill>
          <a:ln w="9525">
            <a:solidFill>
              <a:srgbClr val="EE312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39712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Задача: 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рассмотрение бренда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656832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делаем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656832" y="4389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авторы показывают технику Midea в жизненных сценариях, связанных с потребностями аудитории.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656832" y="5120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в кампании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656832" y="5394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объясняем пользу продукта и даем понятные аргументы для рассмотрения бренда.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916168" y="4023360"/>
            <a:ext cx="384048" cy="384048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91616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Баннерные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размещения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Формат для масштабного охвата и роста заметности Midea в коротких видео.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работает формат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2514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Брендированный анимированный баннер Midea размещается внутри коротких видео с высоким объемом просмотров.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1148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получает Midea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Большой объём контактов с брендом и рост его заметности среди целевой аудитории.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запускаем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466344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809744"/>
            <a:ext cx="347472" cy="34747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809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4663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Адаптируем баннер под формат коротких видео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0" y="466344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94760" y="4809744"/>
            <a:ext cx="347472" cy="34747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794760" y="4809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251960" y="4663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Определяем допустимые категории контента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1480" y="5413248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48640" y="5559552"/>
            <a:ext cx="347472" cy="34747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" y="5559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05840" y="54132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Запускаем размещения через сеть VibeVO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657600" y="5413248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794760" y="5559552"/>
            <a:ext cx="347472" cy="34747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794760" y="5559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251960" y="54132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Контролируем выходы</a:t>
            </a:r>
            <a:endParaRPr lang="en-US" sz="1100" dirty="0"/>
          </a:p>
        </p:txBody>
      </p:sp>
      <p:pic>
        <p:nvPicPr>
          <p:cNvPr id="33" name="Image 3" descr="/tmp/w/a/src_image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755" y="1371600"/>
            <a:ext cx="2052248" cy="42062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464040" y="57150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46404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Пример баннера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11480" y="914400"/>
            <a:ext cx="4023360" cy="5486400"/>
          </a:xfrm>
          <a:prstGeom prst="roundRect">
            <a:avLst>
              <a:gd name="adj" fmla="val 3182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9" name="Image 2" descr="/tmp/w/a/ugc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468" y="1188720"/>
            <a:ext cx="3001384" cy="4937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00600" y="8686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UGC-видео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блогеров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4800600" y="14813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 Midea становится частью контента автора и раскрывается через конкретную потребность аудитории.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800600" y="2194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работает формат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2487168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кампании разрабатываем единое мастер-ТЗ с пятью сценариями — по одному для каждого сегмента аудитории. Блогеры создают ролики на его основе, адаптируя сценарий под собственную подачу и тематику контента. Видео публикуются на страницах авторов и набирают просмотры среди аудитории релевантных тематик.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800600" y="361188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0" y="36118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получает Midea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Масштабируемый UGC-контент в единой коммуникационной рамке: разные авторы раскрывают ключевые сообщения Midea через близкие их аудитории сценарии.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запускаем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00600" y="5029200"/>
            <a:ext cx="1655064" cy="1371600"/>
          </a:xfrm>
          <a:prstGeom prst="roundRect">
            <a:avLst>
              <a:gd name="adj" fmla="val 666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937760" y="5166360"/>
            <a:ext cx="329184" cy="329184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37760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937760" y="557784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Согласовываем мастер-ТЗ и пул блогеров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65392" y="5029200"/>
            <a:ext cx="1655064" cy="1371600"/>
          </a:xfrm>
          <a:prstGeom prst="roundRect">
            <a:avLst>
              <a:gd name="adj" fmla="val 666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02552" y="5166360"/>
            <a:ext cx="329184" cy="329184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02552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702552" y="557784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автор выбирает подходящий ему сценарий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330184" y="5029200"/>
            <a:ext cx="1655064" cy="1371600"/>
          </a:xfrm>
          <a:prstGeom prst="roundRect">
            <a:avLst>
              <a:gd name="adj" fmla="val 666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467344" y="5166360"/>
            <a:ext cx="329184" cy="329184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467344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467344" y="557784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Адаптирует его под свой формат и подачу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10094976" y="5029200"/>
            <a:ext cx="1655064" cy="1371600"/>
          </a:xfrm>
          <a:prstGeom prst="roundRect">
            <a:avLst>
              <a:gd name="adj" fmla="val 666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232136" y="5166360"/>
            <a:ext cx="329184" cy="329184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0232136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0232136" y="557784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Публикует ролик на своей странице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Пять сегментов —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пять сценариев контента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СЕГМЕНТ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160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ПОКАЗЫВАЕМ В РОЛИКЕ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ТЕМАТИКИ БЛОГЕРОВ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1938528"/>
            <a:ext cx="11365992" cy="676656"/>
          </a:xfrm>
          <a:prstGeom prst="roundRect">
            <a:avLst>
              <a:gd name="adj" fmla="val 1351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4360" y="2075688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193852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Меньше времени на быт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160520" y="1938528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техника Midea забирает на себя часть бытовой рутины и помогает освободить время.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183880" y="1938528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Бытовые лайфхаки, клининг, расхламление, организация пространства, продуктивность дома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1480" y="2697480"/>
            <a:ext cx="11365992" cy="676656"/>
          </a:xfrm>
          <a:prstGeom prst="roundRect">
            <a:avLst>
              <a:gd name="adj" fmla="val 1351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4360" y="2834640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269748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Ремонт и новая квартира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160520" y="269748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подобрать технику для нового пространства, что предусмотреть заранее и как избежать ошибок при обустройстве.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2697480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Ремонт, новостройки, приёмка квартир, переезд, комплектация квартиры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11480" y="3456432"/>
            <a:ext cx="11365992" cy="676656"/>
          </a:xfrm>
          <a:prstGeom prst="roundRect">
            <a:avLst>
              <a:gd name="adj" fmla="val 1351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4360" y="3593592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9436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234440" y="345643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Интерьер и дизайн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160520" y="3456432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техника Midea вписывается в интерьер, помогает сохранить эстетику пространства и не перегружает его.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183880" y="3456432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Дизайн интерьера, кухни, home decor, архитектура, организация пространства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11480" y="4215384"/>
            <a:ext cx="11365992" cy="676656"/>
          </a:xfrm>
          <a:prstGeom prst="roundRect">
            <a:avLst>
              <a:gd name="adj" fmla="val 1351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" y="4352544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9436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234440" y="4215384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Кулинария и домашняя еда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4160520" y="421538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техника Midea помогает на всём цикле: хранить → приготовить → разогреть → убрать.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4215384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Рецепты, домашняя кухня, семейная еда, правильное питание, заготовки и хранение продуктов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11480" y="4974336"/>
            <a:ext cx="11365992" cy="676656"/>
          </a:xfrm>
          <a:prstGeom prst="roundRect">
            <a:avLst>
              <a:gd name="adj" fmla="val 13514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94360" y="5111496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94360" y="5111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234440" y="4974336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Разумная покупка и технологии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4160520" y="4974336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функции техники работают в реальных сценариях и какую практическую пользу дают пользователю.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8183880" y="4974336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Техноблоги, обзоры, сравнения, smart home, цена / качество, товары для дома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11480" y="5806440"/>
            <a:ext cx="11365992" cy="502920"/>
          </a:xfrm>
          <a:prstGeom prst="roundRect">
            <a:avLst>
              <a:gd name="adj" fmla="val 49091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Баннерные размещения работают на всю целевую аудиторию, а UGC-коммуникация адаптируется под потребность каждого сегмента.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сценарий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выглядит в ролике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одному примеру для каждого сегмента: как развивается сюжет по секундам и в какой момент в него входит продукт Midea.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194560"/>
            <a:ext cx="2170786" cy="3840480"/>
          </a:xfrm>
          <a:prstGeom prst="roundRect">
            <a:avLst>
              <a:gd name="adj" fmla="val 505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11480" y="2194560"/>
            <a:ext cx="2170786" cy="713232"/>
          </a:xfrm>
          <a:prstGeom prst="roundRect">
            <a:avLst>
              <a:gd name="adj" fmla="val 15385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9496" y="2194560"/>
            <a:ext cx="19147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110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МЕНЬШЕ ВРЕМЕНИ НА БЫТ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39496" y="303580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0–2 с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" y="327355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Раковина после ужина, полная посуды — знакомая бытовая ситуация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" y="404164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3–8 с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39496" y="427939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Загрузка посудомоечной машины Midea, крупный план продукта и панели управления.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39496" y="504748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9–15 с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539496" y="528523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Утро: чистая посуда, автор с кофе — бытовая задача решена.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710282" y="2194560"/>
            <a:ext cx="2170786" cy="3840480"/>
          </a:xfrm>
          <a:prstGeom prst="roundRect">
            <a:avLst>
              <a:gd name="adj" fmla="val 505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710282" y="2194560"/>
            <a:ext cx="2170786" cy="713232"/>
          </a:xfrm>
          <a:prstGeom prst="roundRect">
            <a:avLst>
              <a:gd name="adj" fmla="val 15385"/>
            </a:avLst>
          </a:prstGeom>
          <a:solidFill>
            <a:srgbClr val="B72126"/>
          </a:solidFill>
          <a:ln w="12700">
            <a:solidFill>
              <a:srgbClr val="B7212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38298" y="2194560"/>
            <a:ext cx="19147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110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РЕМОНТ И НОВАЯ КВАРТИРА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838298" y="303580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0–3 с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2838298" y="327355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«Что предусмотреть до установки кухни?» — прямой вопрос в момент активного выбора.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2838298" y="404164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4–12 с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2838298" y="427939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Замеры ниши и установка встраиваемой техники Midea — показываем продукт в реальном процессе обустройства.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2838298" y="504748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13–20 с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2838298" y="528523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Готовая кухня и короткий чек-лист: что важно учесть при выборе техники заранее.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009083" y="2194560"/>
            <a:ext cx="2170786" cy="3840480"/>
          </a:xfrm>
          <a:prstGeom prst="roundRect">
            <a:avLst>
              <a:gd name="adj" fmla="val 505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009083" y="2194560"/>
            <a:ext cx="2170786" cy="713232"/>
          </a:xfrm>
          <a:prstGeom prst="roundRect">
            <a:avLst>
              <a:gd name="adj" fmla="val 15385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137099" y="2194560"/>
            <a:ext cx="19147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110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ИНТЕРЬЕР И ДИЗАЙН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137099" y="303580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0–2 с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137099" y="327355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Панорама готовой кухни — техника визуально не перегружает пространство.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5137099" y="404164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3–10 с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137099" y="427939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Открываются фасады: в кадре появляется встроенная техника Midea.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5137099" y="504748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11–18 с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137099" y="528523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Финальный вид интерьера — показываем, как техника становится частью цельного пространства.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7307885" y="2194560"/>
            <a:ext cx="2170786" cy="3840480"/>
          </a:xfrm>
          <a:prstGeom prst="roundRect">
            <a:avLst>
              <a:gd name="adj" fmla="val 505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307885" y="2194560"/>
            <a:ext cx="2170786" cy="713232"/>
          </a:xfrm>
          <a:prstGeom prst="roundRect">
            <a:avLst>
              <a:gd name="adj" fmla="val 15385"/>
            </a:avLst>
          </a:prstGeom>
          <a:solidFill>
            <a:srgbClr val="B72126"/>
          </a:solidFill>
          <a:ln w="12700">
            <a:solidFill>
              <a:srgbClr val="B7212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435901" y="2194560"/>
            <a:ext cx="19147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110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КУЛИНАРИЯ И ДОМАШНЯЯ ЕДА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7435901" y="303580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0–3 с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7435901" y="327355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Готовое блюдо крупным планом — сразу показываем результат.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7435901" y="404164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4–12 с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7435901" y="427939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 приготовления: техника Midea в работе, режимы и функции в реальном сценарии.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7435901" y="504748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13–20 с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7435901" y="528523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Готовый стол, а после еды — посуда отправляется в посудомоечную машину: цикл завершен.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9606686" y="2194560"/>
            <a:ext cx="2170786" cy="3840480"/>
          </a:xfrm>
          <a:prstGeom prst="roundRect">
            <a:avLst>
              <a:gd name="adj" fmla="val 505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606686" y="2194560"/>
            <a:ext cx="2170786" cy="713232"/>
          </a:xfrm>
          <a:prstGeom prst="roundRect">
            <a:avLst>
              <a:gd name="adj" fmla="val 15385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9734702" y="2194560"/>
            <a:ext cx="19147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</a:t>
            </a:r>
            <a:endParaRPr lang="en-US" sz="110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РАЗУМНАЯ ПОКУПКА И ТЕХНОЛОГИИ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9734702" y="303580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0–3 с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9734702" y="327355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«За что вы платите в этой функции?» — начинаем с конкретного вопроса покупателя.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9734702" y="404164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4–14 с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9734702" y="427939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Показываем работу функции Midea в реальном сценарии и объясняем, какую практическую пользу она дает.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9734702" y="5047488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15–25 с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9734702" y="5285232"/>
            <a:ext cx="1914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Короткий вывод: кому эта функция полезна и в каких ситуациях она действительно имеет смысл.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411480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 всех сценариях сохраняем одну логику: сначала потребность человека, затем продукт Midea как решение и понятный результат. Эта структура фиксируется в мастер-ТЗ для всех авторов.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это выглядит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у зрителя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схемы размещения и реальный кадр из работающей кампании. Бренд всегда внутри кадра, а не перед роликом.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148840"/>
            <a:ext cx="5486400" cy="4114800"/>
          </a:xfrm>
          <a:prstGeom prst="roundRect">
            <a:avLst>
              <a:gd name="adj" fmla="val 3111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1" name="Image 2" descr="/tmp/w/a/src_image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786" y="2331720"/>
            <a:ext cx="1829178" cy="374903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20355" y="2423160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320355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3320355" y="2971800"/>
            <a:ext cx="2303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БАННЕР ПОВЕРХ ВИРУСНОГО РОЛИКА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320355" y="3703320"/>
            <a:ext cx="230320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Кадр из работающей кампании: баннер внутри вирусного ролика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3320355" y="5669280"/>
            <a:ext cx="2303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Смотреть в TikTok ↗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2148840"/>
            <a:ext cx="5486400" cy="4114800"/>
          </a:xfrm>
          <a:prstGeom prst="roundRect">
            <a:avLst>
              <a:gd name="adj" fmla="val 3111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8" name="Image 3" descr="/tmp/w/a/src_image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9230" y="2331720"/>
            <a:ext cx="1829178" cy="3749039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236029" y="2423160"/>
            <a:ext cx="402336" cy="402336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236029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9236029" y="2971800"/>
            <a:ext cx="21482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ПРИМЕРЫ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МАСС-ПОСТИНГА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236029" y="3703320"/>
            <a:ext cx="214825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Winline делал UGC-контент, который потом посеяли на каналы.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9236029" y="5303520"/>
            <a:ext cx="21482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Пример 1 в Instagram ↗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236029" y="5669280"/>
            <a:ext cx="21482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Пример 2 в Instagram ↗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Медиаплан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411480" y="1645920"/>
            <a:ext cx="2724912" cy="1051560"/>
          </a:xfrm>
          <a:prstGeom prst="roundRect">
            <a:avLst>
              <a:gd name="adj" fmla="val 1043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3 313 661 ₽</a:t>
            </a:r>
            <a:endParaRPr lang="en-US" sz="2000" b="1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без НДС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82696" y="1645920"/>
            <a:ext cx="2724912" cy="1051560"/>
          </a:xfrm>
          <a:prstGeom prst="roundRect">
            <a:avLst>
              <a:gd name="adj" fmla="val 1043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11296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4 042 667 ₽</a:t>
            </a:r>
            <a:endParaRPr lang="en-US" sz="2000" b="1" dirty="0"/>
          </a:p>
        </p:txBody>
      </p:sp>
      <p:sp>
        <p:nvSpPr>
          <p:cNvPr id="14" name="Text 10"/>
          <p:cNvSpPr txBox="1"/>
          <p:nvPr/>
        </p:nvSpPr>
        <p:spPr>
          <a:xfrm>
            <a:off x="3511296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с НДС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53912" y="1645920"/>
            <a:ext cx="2724912" cy="1051560"/>
          </a:xfrm>
          <a:prstGeom prst="roundRect">
            <a:avLst>
              <a:gd name="adj" fmla="val 1043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82512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62 060 031</a:t>
            </a:r>
            <a:endParaRPr lang="en-US" sz="2000" b="1" dirty="0"/>
          </a:p>
        </p:txBody>
      </p:sp>
      <p:sp>
        <p:nvSpPr>
          <p:cNvPr id="17" name="Text 13"/>
          <p:cNvSpPr txBox="1"/>
          <p:nvPr/>
        </p:nvSpPr>
        <p:spPr>
          <a:xfrm>
            <a:off x="6382512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показов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025128" y="1645920"/>
            <a:ext cx="2724912" cy="1051560"/>
          </a:xfrm>
          <a:prstGeom prst="roundRect">
            <a:avLst>
              <a:gd name="adj" fmla="val 10435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25372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31 030 016</a:t>
            </a:r>
            <a:endParaRPr lang="en-US" sz="2000" b="1" dirty="0"/>
          </a:p>
        </p:txBody>
      </p:sp>
      <p:sp>
        <p:nvSpPr>
          <p:cNvPr id="20" name="Text 16"/>
          <p:cNvSpPr txBox="1"/>
          <p:nvPr/>
        </p:nvSpPr>
        <p:spPr>
          <a:xfrm>
            <a:off x="9253728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 (оценка)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690196"/>
              </p:ext>
            </p:extLst>
          </p:nvPr>
        </p:nvGraphicFramePr>
        <p:xfrm>
          <a:off x="411480" y="2971800"/>
          <a:ext cx="11365993" cy="2487168"/>
        </p:xfrm>
        <a:graphic>
          <a:graphicData uri="http://schemas.openxmlformats.org/drawingml/2006/table">
            <a:tbl>
              <a:tblPr/>
              <a:tblGrid>
                <a:gridCol w="1094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55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63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57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65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65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Каналы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charset="0"/>
                          <a:cs typeface="Montserrat" charset="0"/>
                        </a:rPr>
                        <a:t>Формат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Ед. закупки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 err="1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Тотал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Стоимость ед. до НДС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Стоимость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 НДС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Стоимость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 НДС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Вес канала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Показы / </a:t>
                      </a:r>
                      <a:r>
                        <a:rPr lang="ru-RU" sz="800" b="1" dirty="0" err="1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эстимация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Частота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/ </a:t>
                      </a:r>
                      <a:r>
                        <a:rPr lang="ru-RU" sz="800" b="1" dirty="0" err="1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эстимация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Охват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/ </a:t>
                      </a:r>
                      <a:r>
                        <a:rPr lang="ru-RU" sz="800" b="1" dirty="0" err="1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эстимация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CTR, % / </a:t>
                      </a:r>
                      <a:r>
                        <a:rPr lang="ru-RU" sz="800" b="1" dirty="0" err="1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эстимация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Клики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/ </a:t>
                      </a:r>
                      <a:r>
                        <a:rPr lang="ru-RU" sz="800" b="1" dirty="0" err="1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эстимация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TikTok / VK / YouTube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Баннерные размещения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CPM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61 060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25,1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1 533 806,00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1 871 243,33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46,29%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61 060 031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30 530 016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0,10%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61 060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UGC контент-завод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CPM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1 000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1 579,9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1 579 855,20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1 927 423,34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47,68%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1 000 000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500 000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0,10%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1 000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Менеджмент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Pack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200 000,0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200 000,00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244 000,00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6,04%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Итого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3 313 661,20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4 042 666,67 ₽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100,00%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62 060 031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31 030 016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62 060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C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/a/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8408" y="329184"/>
            <a:ext cx="0" cy="310896"/>
          </a:xfrm>
          <a:prstGeom prst="line">
            <a:avLst/>
          </a:prstGeom>
          <a:noFill/>
          <a:ln w="9525">
            <a:solidFill>
              <a:srgbClr val="6A6E75"/>
            </a:solidFill>
            <a:prstDash val="solid"/>
          </a:ln>
        </p:spPr>
      </p:sp>
      <p:pic>
        <p:nvPicPr>
          <p:cNvPr id="4" name="Image 1" descr="/tmp/w/a/mid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616"/>
            <a:ext cx="676656" cy="2571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14432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фиксируем</a:t>
            </a: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как KPI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Фиксируем только то, что подтверждается фактом площадки: стоимость контакта, объём показов и вовлечённость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148840"/>
            <a:ext cx="6583680" cy="1737360"/>
          </a:xfrm>
          <a:prstGeom prst="roundRect">
            <a:avLst>
              <a:gd name="adj" fmla="val 7368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 ПОКАЗОВ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62 млн</a:t>
            </a:r>
            <a:endParaRPr lang="en-US" sz="4000" b="1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 и просмотры по обеим линиям. Каждое размещение — со ссылкой в отчёте, цифру можно проверить руками.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1480" y="406908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CPM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25,1 ₽</a:t>
            </a:r>
            <a:endParaRPr lang="en-US" sz="2200" b="1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5440680"/>
            <a:ext cx="18931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Баннерные размещения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651760" y="406908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88036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CPM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288036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1 579,9 ₽</a:t>
            </a:r>
            <a:endParaRPr lang="en-US" sz="2200" b="1" dirty="0"/>
          </a:p>
        </p:txBody>
      </p:sp>
      <p:sp>
        <p:nvSpPr>
          <p:cNvPr id="21" name="Text 17"/>
          <p:cNvSpPr txBox="1"/>
          <p:nvPr/>
        </p:nvSpPr>
        <p:spPr>
          <a:xfrm>
            <a:off x="2880360" y="5440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контент-завод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92040" y="4069080"/>
            <a:ext cx="2103120" cy="2148840"/>
          </a:xfrm>
          <a:prstGeom prst="roundRect">
            <a:avLst>
              <a:gd name="adj" fmla="val 6087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1206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CPV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12064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0,04 ₽</a:t>
            </a:r>
            <a:endParaRPr lang="en-US" sz="2200" b="1" dirty="0"/>
          </a:p>
        </p:txBody>
      </p:sp>
      <p:sp>
        <p:nvSpPr>
          <p:cNvPr id="25" name="Text 21"/>
          <p:cNvSpPr txBox="1"/>
          <p:nvPr/>
        </p:nvSpPr>
        <p:spPr>
          <a:xfrm>
            <a:off x="5120640" y="5440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1050" dirty="0" err="1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</a:t>
            </a: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кампании целиком.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269480" y="2148840"/>
            <a:ext cx="4507992" cy="4069080"/>
          </a:xfrm>
          <a:prstGeom prst="roundRect">
            <a:avLst>
              <a:gd name="adj" fmla="val 3146"/>
            </a:avLst>
          </a:prstGeom>
          <a:solidFill>
            <a:srgbClr val="161616">
              <a:alpha val="92000"/>
            </a:srgbClr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543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ОТЧЁТНОСТЬ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543800" y="2788920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306" y="2907426"/>
            <a:ext cx="201900" cy="201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138160" y="26791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дашборд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показы, просмотры, реакции — в течение всей кампании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543800" y="3639312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306" y="3757818"/>
            <a:ext cx="201900" cy="2019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38160" y="352958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Выгрузка всех размещений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ссылка на каждый пост: можно открыть и проверить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543800" y="4489704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306" y="4608210"/>
            <a:ext cx="201900" cy="2019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138160" y="437997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Срезы по сегментам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видно, какой сценарий мастер-ТЗ работает лучше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7543800" y="5340096"/>
            <a:ext cx="438912" cy="438912"/>
          </a:xfrm>
          <a:prstGeom prst="ellipse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2306" y="5458602"/>
            <a:ext cx="201900" cy="2019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138160" y="5230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Пост-кампейн отчёт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 по KPI и рекомендации на следующий флайт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1440</Words>
  <Application>Microsoft Macintosh PowerPoint</Application>
  <PresentationFormat>Широкоэкранный</PresentationFormat>
  <Paragraphs>292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Midea x VibeVO — охватная кампания</dc:title>
  <dc:subject>PptxGenJS Presentation</dc:subject>
  <dc:creator>AdVisor Media</dc:creator>
  <cp:lastModifiedBy>Maria Pushkina</cp:lastModifiedBy>
  <cp:revision>3</cp:revision>
  <dcterms:created xsi:type="dcterms:W3CDTF">2026-09-22T14:00:07Z</dcterms:created>
  <dcterms:modified xsi:type="dcterms:W3CDTF">2026-09-22T14:06:03Z</dcterms:modified>
</cp:coreProperties>
</file>
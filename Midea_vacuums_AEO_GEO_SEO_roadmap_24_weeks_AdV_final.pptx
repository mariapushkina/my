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ba142bd93e4eaf" /><Relationship Type="http://schemas.openxmlformats.org/officeDocument/2006/relationships/extended-properties" Target="/docProps/app.xml" Id="R1089250629344c3e" /><Relationship Type="http://schemas.openxmlformats.org/officeDocument/2006/relationships/officeDocument" Target="/ppt/presentation.xml" Id="R1a372a27043e41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b6ad9bedd14e00"/>
  </p:sldMasterIdLst>
  <p:notesMasterIdLst>
    <p:notesMasterId xmlns:r="http://schemas.openxmlformats.org/officeDocument/2006/relationships" r:id="R452cf6cd654b4bcd"/>
  </p:notesMasterIdLst>
  <p:sldIdLst>
    <p:sldId xmlns:r="http://schemas.openxmlformats.org/officeDocument/2006/relationships" id="256" r:id="R5d8489f403d041d1"/>
    <p:sldId xmlns:r="http://schemas.openxmlformats.org/officeDocument/2006/relationships" id="257" r:id="R9cb9dbe0e4784e64"/>
    <p:sldId xmlns:r="http://schemas.openxmlformats.org/officeDocument/2006/relationships" id="258" r:id="R1535c39919ec44dd"/>
    <p:sldId xmlns:r="http://schemas.openxmlformats.org/officeDocument/2006/relationships" id="259" r:id="Rba4c4f2f4c6d4087"/>
    <p:sldId xmlns:r="http://schemas.openxmlformats.org/officeDocument/2006/relationships" id="260" r:id="Rf3b18aedfbba4234"/>
    <p:sldId xmlns:r="http://schemas.openxmlformats.org/officeDocument/2006/relationships" id="261" r:id="R9baf213e14024cb2"/>
    <p:sldId xmlns:r="http://schemas.openxmlformats.org/officeDocument/2006/relationships" id="262" r:id="Rb65dcd9a8060412d"/>
    <p:sldId xmlns:r="http://schemas.openxmlformats.org/officeDocument/2006/relationships" id="263" r:id="Rac9726416e5d46ea"/>
    <p:sldId xmlns:r="http://schemas.openxmlformats.org/officeDocument/2006/relationships" id="264" r:id="Rbe5878f477394169"/>
    <p:sldId xmlns:r="http://schemas.openxmlformats.org/officeDocument/2006/relationships" id="265" r:id="Ra9f811b9d22d488b"/>
    <p:sldId xmlns:r="http://schemas.openxmlformats.org/officeDocument/2006/relationships" id="266" r:id="R6177ea49032843a4"/>
    <p:sldId xmlns:r="http://schemas.openxmlformats.org/officeDocument/2006/relationships" id="267" r:id="R617a2f9128434e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cd61cab8df473a" /><Relationship Type="http://schemas.openxmlformats.org/officeDocument/2006/relationships/slideMaster" Target="/ppt/slideMasters/slideMaster1.xml" Id="R64b6ad9bedd14e00" /><Relationship Type="http://schemas.openxmlformats.org/officeDocument/2006/relationships/notesMaster" Target="/ppt/notesMasters/notesMaster1.xml" Id="R452cf6cd654b4bcd" /><Relationship Type="http://schemas.openxmlformats.org/officeDocument/2006/relationships/presProps" Target="/ppt/presProps.xml" Id="R2063af3ffbdc47a2" /><Relationship Type="http://schemas.openxmlformats.org/officeDocument/2006/relationships/tableStyles" Target="/ppt/tableStyles.xml" Id="Rc7a80894abd540e3" /><Relationship Type="http://schemas.openxmlformats.org/officeDocument/2006/relationships/slide" Target="/ppt/slides/slide1.xml" Id="R5d8489f403d041d1" /><Relationship Type="http://schemas.openxmlformats.org/officeDocument/2006/relationships/slide" Target="/ppt/slides/slide2.xml" Id="R9cb9dbe0e4784e64" /><Relationship Type="http://schemas.openxmlformats.org/officeDocument/2006/relationships/slide" Target="/ppt/slides/slide3.xml" Id="R1535c39919ec44dd" /><Relationship Type="http://schemas.openxmlformats.org/officeDocument/2006/relationships/slide" Target="/ppt/slides/slide4.xml" Id="Rba4c4f2f4c6d4087" /><Relationship Type="http://schemas.openxmlformats.org/officeDocument/2006/relationships/slide" Target="/ppt/slides/slide5.xml" Id="Rf3b18aedfbba4234" /><Relationship Type="http://schemas.openxmlformats.org/officeDocument/2006/relationships/slide" Target="/ppt/slides/slide6.xml" Id="R9baf213e14024cb2" /><Relationship Type="http://schemas.openxmlformats.org/officeDocument/2006/relationships/slide" Target="/ppt/slides/slide7.xml" Id="Rb65dcd9a8060412d" /><Relationship Type="http://schemas.openxmlformats.org/officeDocument/2006/relationships/slide" Target="/ppt/slides/slide8.xml" Id="Rac9726416e5d46ea" /><Relationship Type="http://schemas.openxmlformats.org/officeDocument/2006/relationships/slide" Target="/ppt/slides/slide9.xml" Id="Rbe5878f477394169" /><Relationship Type="http://schemas.openxmlformats.org/officeDocument/2006/relationships/slide" Target="/ppt/slides/slide10.xml" Id="Ra9f811b9d22d488b" /><Relationship Type="http://schemas.openxmlformats.org/officeDocument/2006/relationships/slide" Target="/ppt/slides/slide11.xml" Id="R6177ea49032843a4" /><Relationship Type="http://schemas.openxmlformats.org/officeDocument/2006/relationships/slide" Target="/ppt/slides/slide12.xml" Id="R617a2f9128434e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17b1754b240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76b47907924334" /><Relationship Type="http://schemas.openxmlformats.org/officeDocument/2006/relationships/notesMaster" Target="/ppt/notesMasters/notesMaster1.xml" Id="R714529d3730e46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e3cdabeafe4215" /><Relationship Type="http://schemas.openxmlformats.org/officeDocument/2006/relationships/notesMaster" Target="/ppt/notesMasters/notesMaster1.xml" Id="Rd4794453326a4d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9c6017b40a4d88" /><Relationship Type="http://schemas.openxmlformats.org/officeDocument/2006/relationships/notesMaster" Target="/ppt/notesMasters/notesMaster1.xml" Id="Rfbdc988a65194a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e08a7f8edf41c9" /><Relationship Type="http://schemas.openxmlformats.org/officeDocument/2006/relationships/notesMaster" Target="/ppt/notesMasters/notesMaster1.xml" Id="R5dad1c3e2b674a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2821f9b3414b7a" /><Relationship Type="http://schemas.openxmlformats.org/officeDocument/2006/relationships/notesMaster" Target="/ppt/notesMasters/notesMaster1.xml" Id="Red68e17408d64e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b43ae891c34665" /><Relationship Type="http://schemas.openxmlformats.org/officeDocument/2006/relationships/notesMaster" Target="/ppt/notesMasters/notesMaster1.xml" Id="Rbc1759aab9e64d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8d7222e76d454e" /><Relationship Type="http://schemas.openxmlformats.org/officeDocument/2006/relationships/notesMaster" Target="/ppt/notesMasters/notesMaster1.xml" Id="R0060cdb53a1545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7cd0f704eb405d" /><Relationship Type="http://schemas.openxmlformats.org/officeDocument/2006/relationships/notesMaster" Target="/ppt/notesMasters/notesMaster1.xml" Id="R6884347533a64d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f311ac25a4731" /><Relationship Type="http://schemas.openxmlformats.org/officeDocument/2006/relationships/notesMaster" Target="/ppt/notesMasters/notesMaster1.xml" Id="R911d261140e94b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ce9a9cd2a1402b" /><Relationship Type="http://schemas.openxmlformats.org/officeDocument/2006/relationships/notesMaster" Target="/ppt/notesMasters/notesMaster1.xml" Id="R1f2baa44b7924e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77b96393654eff" /><Relationship Type="http://schemas.openxmlformats.org/officeDocument/2006/relationships/notesMaster" Target="/ppt/notesMasters/notesMaster1.xml" Id="Rc44e4b753e9c4f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89672ccbf74f1d" /><Relationship Type="http://schemas.openxmlformats.org/officeDocument/2006/relationships/notesMaster" Target="/ppt/notesMasters/notesMaster1.xml" Id="Rcdf8530ca914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  <a:p xmlns:a="http://schemas.openxmlformats.org/drawingml/2006/main">
            <a:r>
              <a:t>Фото продукта: https://midearussia.ru/collection/pylesosy/product/pylesos-midea-vss1200</a:t>
            </a:r>
          </a:p>
          <a:p xmlns:a="http://schemas.openxmlformats.org/drawingml/2006/main">
            <a:r>
              <a:t>Изображение: https://cdn.insales-shop.ru/images/products/1/2393/3191572825/5a2eeab0-7393-11f1-9c91-e23d483e8add.png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  <a:p xmlns:a="http://schemas.openxmlformats.org/drawingml/2006/main">
            <a:r>
              <a:t>Промежуточные точки на 3-м месяце входят в план мониторинга. Числовые целевые ориентиры документа установлены на 6-й месяц.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  <a:p xmlns:a="http://schemas.openxmlformats.org/drawingml/2006/main">
            <a:r>
              <a:t>Недели 12, 18 и 24: предложенный календарь трех повторных замеров внутри периода мониторинга 9–24 недели.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https://docs.google.com/document/d/1QUvS4-2uPR9HhxcmjEcBAwf8cy3MTJCRH8vbQ3pAT60/edit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e9e0d3d1741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4b1a596ca4ae4" /><Relationship Type="http://schemas.openxmlformats.org/officeDocument/2006/relationships/slideLayout" Target="/ppt/slideLayouts/slideLayout1.xml" Id="R071d7b782f5745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1d7b782f5745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1e7aa2150405a" /><Relationship Type="http://schemas.openxmlformats.org/officeDocument/2006/relationships/image" Target="/ppt/media/image.png" Id="R075c6d931282471e" /><Relationship Type="http://schemas.openxmlformats.org/officeDocument/2006/relationships/image" Target="/ppt/media/image2.png" Id="Rf6358a6100d745f2" /><Relationship Type="http://schemas.openxmlformats.org/officeDocument/2006/relationships/image" Target="/ppt/media/image3.png" Id="R1811e14dc8814674" /><Relationship Type="http://schemas.openxmlformats.org/officeDocument/2006/relationships/image" Target="/ppt/media/image.svg" Id="Rb29769cacd6648c7" /><Relationship Type="http://schemas.openxmlformats.org/officeDocument/2006/relationships/image" Target="/ppt/media/image4.png" Id="Rffbdc46bb2ba46d2" /><Relationship Type="http://schemas.openxmlformats.org/officeDocument/2006/relationships/notesSlide" Target="/ppt/notesSlides/notesSlide1.xml" Id="R9d1124953eda48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7339621db46ae" /><Relationship Type="http://schemas.openxmlformats.org/officeDocument/2006/relationships/image" Target="/ppt/media/image5.png" Id="R60f71f6f973e4fae" /><Relationship Type="http://schemas.openxmlformats.org/officeDocument/2006/relationships/image" Target="/ppt/media/image6.png" Id="R72aee291b2bd4062" /><Relationship Type="http://schemas.openxmlformats.org/officeDocument/2006/relationships/notesSlide" Target="/ppt/notesSlides/notesSlide2.xml" Id="R6351a36441bd48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42a677f424994" /><Relationship Type="http://schemas.openxmlformats.org/officeDocument/2006/relationships/image" Target="/ppt/media/image7.png" Id="R59c891b63e33421a" /><Relationship Type="http://schemas.openxmlformats.org/officeDocument/2006/relationships/image" Target="/ppt/media/image8.png" Id="R3ddc022c45e34a13" /><Relationship Type="http://schemas.openxmlformats.org/officeDocument/2006/relationships/chart" Target="/ppt/slides/charts/chart1.xml" Id="Rae290a4785fc481c" /><Relationship Type="http://schemas.openxmlformats.org/officeDocument/2006/relationships/notesSlide" Target="/ppt/notesSlides/notesSlide3.xml" Id="R35f640b69bc84a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3e984ac5a49e4" /><Relationship Type="http://schemas.openxmlformats.org/officeDocument/2006/relationships/image" Target="/ppt/media/image9.png" Id="R25c369ea82dd49a1" /><Relationship Type="http://schemas.openxmlformats.org/officeDocument/2006/relationships/image" Target="/ppt/media/image10.png" Id="Re8e3e18f67044b65" /><Relationship Type="http://schemas.openxmlformats.org/officeDocument/2006/relationships/notesSlide" Target="/ppt/notesSlides/notesSlide4.xml" Id="R802ec9e45cbf48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09818e7614689" /><Relationship Type="http://schemas.openxmlformats.org/officeDocument/2006/relationships/image" Target="/ppt/media/image11.png" Id="R4d9d5d27b8574663" /><Relationship Type="http://schemas.openxmlformats.org/officeDocument/2006/relationships/image" Target="/ppt/media/image12.png" Id="R8c9b2c6cced648a6" /><Relationship Type="http://schemas.openxmlformats.org/officeDocument/2006/relationships/notesSlide" Target="/ppt/notesSlides/notesSlide5.xml" Id="Rd7c08205bc0947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4eed1179e4326" /><Relationship Type="http://schemas.openxmlformats.org/officeDocument/2006/relationships/image" Target="/ppt/media/image13.png" Id="Rfcd40c61f73d4e5d" /><Relationship Type="http://schemas.openxmlformats.org/officeDocument/2006/relationships/image" Target="/ppt/media/image14.png" Id="Re79ff2c183f74045" /><Relationship Type="http://schemas.openxmlformats.org/officeDocument/2006/relationships/notesSlide" Target="/ppt/notesSlides/notesSlide6.xml" Id="Rb156b7e57fed40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e12dd28cb4984" /><Relationship Type="http://schemas.openxmlformats.org/officeDocument/2006/relationships/image" Target="/ppt/media/image15.png" Id="Rff0ff16ba7844595" /><Relationship Type="http://schemas.openxmlformats.org/officeDocument/2006/relationships/image" Target="/ppt/media/image16.png" Id="Rcfcbea99740b41ab" /><Relationship Type="http://schemas.openxmlformats.org/officeDocument/2006/relationships/notesSlide" Target="/ppt/notesSlides/notesSlide7.xml" Id="Rf4776a12151945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535f6b5f142ba" /><Relationship Type="http://schemas.openxmlformats.org/officeDocument/2006/relationships/image" Target="/ppt/media/image17.png" Id="Rce8641ff500a4c44" /><Relationship Type="http://schemas.openxmlformats.org/officeDocument/2006/relationships/image" Target="/ppt/media/image18.png" Id="R66c7d86fd2bc4ef0" /><Relationship Type="http://schemas.openxmlformats.org/officeDocument/2006/relationships/notesSlide" Target="/ppt/notesSlides/notesSlide8.xml" Id="R2a9a40c1d5d24e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0230b60414f6a" /><Relationship Type="http://schemas.openxmlformats.org/officeDocument/2006/relationships/image" Target="/ppt/media/image19.png" Id="R82d043ebb0ad4d18" /><Relationship Type="http://schemas.openxmlformats.org/officeDocument/2006/relationships/image" Target="/ppt/media/image20.png" Id="Re38ce031d17642a4" /><Relationship Type="http://schemas.openxmlformats.org/officeDocument/2006/relationships/notesSlide" Target="/ppt/notesSlides/notesSlide9.xml" Id="R960792b651d441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9fe7a17f346e3" /><Relationship Type="http://schemas.openxmlformats.org/officeDocument/2006/relationships/image" Target="/ppt/media/image21.png" Id="Rd2af39d63d674b78" /><Relationship Type="http://schemas.openxmlformats.org/officeDocument/2006/relationships/image" Target="/ppt/media/image22.png" Id="R8e92ccc0b3594b11" /><Relationship Type="http://schemas.openxmlformats.org/officeDocument/2006/relationships/notesSlide" Target="/ppt/notesSlides/notesSlide10.xml" Id="Rdff58487d56849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5c80534414971" /><Relationship Type="http://schemas.openxmlformats.org/officeDocument/2006/relationships/image" Target="/ppt/media/image23.png" Id="R5c452f26ab8e4a85" /><Relationship Type="http://schemas.openxmlformats.org/officeDocument/2006/relationships/image" Target="/ppt/media/image24.png" Id="R6d13b042d6aa447e" /><Relationship Type="http://schemas.openxmlformats.org/officeDocument/2006/relationships/notesSlide" Target="/ppt/notesSlides/notesSlide11.xml" Id="Rf10e63cbb17344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4450f7b8c4dfd" /><Relationship Type="http://schemas.openxmlformats.org/officeDocument/2006/relationships/image" Target="/ppt/media/image25.png" Id="R9d9c894e19a14e55" /><Relationship Type="http://schemas.openxmlformats.org/officeDocument/2006/relationships/image" Target="/ppt/media/image26.png" Id="Rf9f75f092dfd4a37" /><Relationship Type="http://schemas.openxmlformats.org/officeDocument/2006/relationships/notesSlide" Target="/ppt/notesSlides/notesSlide12.xml" Id="R1c5c1e9e91da4fb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Midea упомянута</c:v>
          </c:tx>
          <c:spPr>
            <a:solidFill xmlns:a="http://schemas.openxmlformats.org/drawingml/2006/main">
              <a:srgbClr val="F23225"/>
            </a:solidFill>
          </c:spPr>
          <c:cat>
            <c:strLit>
              <c:ptCount val="5"/>
              <c:pt idx="0">
                <c:v>Яндекс Поиск, n=1</c:v>
              </c:pt>
              <c:pt idx="1">
                <c:v>Алиса AI, n=3</c:v>
              </c:pt>
              <c:pt idx="2">
                <c:v>Gemini, n=3</c:v>
              </c:pt>
              <c:pt idx="3">
                <c:v>ChatGPT, n=4</c:v>
              </c:pt>
              <c:pt idx="4">
                <c:v>Perplexity, n=8</c:v>
              </c:pt>
            </c:strLit>
          </c:cat>
          <c:val>
            <c:numLit>
              <c:formatCode>0%</c:formatCode>
              <c:ptCount val="5"/>
              <c:pt idx="0">
                <c:v>0</c:v>
              </c:pt>
              <c:pt idx="1">
                <c:v>0.667</c:v>
              </c:pt>
              <c:pt idx="2">
                <c:v>0.667</c:v>
              </c:pt>
              <c:pt idx="3">
                <c:v>0.5</c:v>
              </c:pt>
              <c:pt idx="4">
                <c:v>0.5</c:v>
              </c:pt>
            </c:numLit>
          </c:val>
        </c:ser>
        <c:ser>
          <c:idx val="1"/>
          <c:order val="1"/>
          <c:tx>
            <c:v>midearussia.ru процитирован</c:v>
          </c:tx>
          <c:spPr>
            <a:solidFill xmlns:a="http://schemas.openxmlformats.org/drawingml/2006/main">
              <a:srgbClr val="119DD8"/>
            </a:solidFill>
          </c:spPr>
          <c:cat>
            <c:strLit>
              <c:ptCount val="5"/>
              <c:pt idx="0">
                <c:v>Яндекс Поиск, n=1</c:v>
              </c:pt>
              <c:pt idx="1">
                <c:v>Алиса AI, n=3</c:v>
              </c:pt>
              <c:pt idx="2">
                <c:v>Gemini, n=3</c:v>
              </c:pt>
              <c:pt idx="3">
                <c:v>ChatGPT, n=4</c:v>
              </c:pt>
              <c:pt idx="4">
                <c:v>Perplexity, n=8</c:v>
              </c:pt>
            </c:strLit>
          </c:cat>
          <c:val>
            <c:numLit>
              <c:formatCode>0%</c:formatCode>
              <c:ptCount val="5"/>
              <c:pt idx="0">
                <c:v>0</c:v>
              </c:pt>
              <c:pt idx="1">
                <c:v>0.333</c:v>
              </c:pt>
              <c:pt idx="2">
                <c:v>0.333</c:v>
              </c:pt>
              <c:pt idx="3">
                <c:v>0.25</c:v>
              </c:pt>
              <c:pt idx="4">
                <c:v>0.25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51515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ontserrat"/>
                    <a:ea typeface="Montserrat"/>
                    <a:cs typeface="Montserrat"/>
                  </a:rPr>
                  <a:t>Доля ответов внутри каждой системы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ontserrat"/>
                  <a:ea typeface="Montserrat"/>
                  <a:cs typeface="Montserrat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F232B"/>
              </a:solidFill>
              <a:latin typeface="Montserrat"/>
              <a:ea typeface="Montserrat"/>
              <a:cs typeface="Montserrat"/>
            </a:defRPr>
          </a:pPr>
        </a:p>
      </c:txPr>
    </c:legend>
    <c:plotVisOnly val="1"/>
  </c:chart>
  <c:spPr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c6d931282471e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39FEA-C9D3-430D-934D-4F16B82D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58a6100d745f2"/>
          <a:stretch xmlns:a="http://schemas.openxmlformats.org/drawingml/2006/main"/>
        </p:blipFill>
        <p:spPr>
          <a:xfrm xmlns:a="http://schemas.openxmlformats.org/drawingml/2006/main">
            <a:off x="457200" y="3619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C4E80-7D72-4710-8E55-1BEF0204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1e14dc8814674">
            <a:extLst>
              <a:ext uri="{96DAC541-7B7A-43D3-8B79-37D633B846F1}">
                <asvg:svgBlip xmlns:asvg="http://schemas.microsoft.com/office/drawing/2016/SVG/main" r:embed="Rb29769cacd6648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" y="1162050"/>
            <a:ext cx="1619250" cy="66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195C4-358C-4837-B55C-6E581B00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ПЫЛЕСОСЫ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293BE-056E-4AEF-82B2-ACAB80D4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6477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ДОРОЖНАЯ КАРТА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SEO + AEO/GEO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16F16-8966-4C67-8496-C64985D8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24 недели до измеримого результата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DD6FC-1C0D-4D62-A527-5D6F0C01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7C9C6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7C9C6"/>
                </a:solidFill>
                <a:latin typeface="Montserrat"/>
                <a:ea typeface="Montserrat"/>
                <a:cs typeface="Montserrat"/>
              </a:rPr>
              <a:t>Текущий результат, прогноз, этапы работ и KPI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31A21-719C-43B0-A135-80F0287E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23900"/>
            <a:ext cx="3714750" cy="54292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dc46bb2ba46d2"/>
          <a:stretch xmlns:a="http://schemas.openxmlformats.org/drawingml/2006/main"/>
        </p:blipFill>
        <p:spPr>
          <a:xfrm xmlns:a="http://schemas.openxmlformats.org/drawingml/2006/main">
            <a:off x="8748614" y="971550"/>
            <a:ext cx="1267022" cy="4762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25E18-21F1-45E3-98E6-0C13C6E0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97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Midea VSS1200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19245-5F75-4693-82D5-22D1B4AB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00452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71f6f973e4fae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B3B2C-FEA3-49A3-BD49-D6532571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ee291b2bd4062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F36D0-B129-4B52-832E-FDFCAE1F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B127D-26A0-4B2C-B2FF-4D27626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D36E9-0900-490B-903A-CE694F48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СЕЙЧАС MIDEA НЕ ПОПАДАЕТ В ОТКРЫТЫЙ ВЫБОР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5F54A-40E1-435E-9B8A-76EBF7C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Диагностический пилот: 19 валидных ответов в пяти AI-системах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89743-72AB-4BCF-BCF6-718A0DC7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03B75-6138-4321-8463-D6A29EC8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571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FF1DB-E4C6-4AD0-A12E-36B8E42D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7620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7783C-5A49-409D-873D-B9F8AA43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 из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1F2FD-7177-4D6D-BC7F-956E83D3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1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Небрендовые ответы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5D49A-8157-4004-954F-8AA4ADE6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Midea ни разу не вошла в рекомендации по общим запросам выбора.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2443C-5AC0-4414-B702-2EDE25F4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2571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D387F-FC3C-40F4-AD5D-7E3EB53B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7620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B76A0-94E3-4E41-800D-75A81960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 из 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B2A64-DD1A-470D-B2AA-FC440CED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90825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Цитаты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8F75E-FCE9-460B-835F-EF87C128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Страница /collection/pylesosy не использовалась как источник.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9F7FB-BC52-47BD-BEF8-00423FA2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2571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38B57-03A3-425C-A7DE-080BA430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7620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BD61C-46FD-4EF8-80BA-D6D1A5B2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 из 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67D93-BBD3-4B80-B519-F929BF90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90825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Цитаты статей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BF093-D8FD-46C5-AFBB-C9286ED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Четыре текущих материала не получили ни одной цитаты.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3E8EA-A93C-47B2-98C4-13AFC99E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28384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CE9AB-E75E-42FC-BA57-0B9DA804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7620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9D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71013-3569-41CB-AE14-6F15C0A6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9DD8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119DD8"/>
                </a:solidFill>
                <a:latin typeface="Montserrat"/>
                <a:ea typeface="Montserrat"/>
                <a:cs typeface="Montserrat"/>
              </a:rPr>
              <a:t>5 из 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8A8CC-4885-4B83-9F66-938561F4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082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Локальный сайт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0B557-FE07-49DD-B907-7F083FED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19450"/>
            <a:ext cx="2324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В брендовых и модельных ответах сайт цитируется в 50% случаев.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0B56B-55F5-47BF-8A40-445E4BD4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1125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3A2D8-59CF-4AA9-8046-3F612F4D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РАБОТАЕТ ТОЧНЫЙ SKU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61ED28-FF8B-4E1F-AD2B-ADFDAE52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Все 5 локальных цитат ведут на одну карточку VSS-AT2. Категория и экспертные материалы пока не формируют short-list выбора.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FED2A9-F0F0-44E4-9B17-5FC4FB86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EB48B2-A703-48FE-ABCB-7B80C15F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9B04C1-A1AF-4647-9DA4-0BFD870F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895950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891b63e33421a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EFF01-4A3F-4360-8C70-2FE20AB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c022c45e34a13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591A4-EE45-43E3-98BE-BFE3F13F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AB02F-2F34-4590-8E05-BDBC50F7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2FB11-EAB6-49BC-9F1A-2DFB47F2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43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ВИДИМОСТЬ В СМЕШАННОМ ПИЛОТЕ ПО AI-СИСТЕМАМ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E1F97-57D9-4DF9-983B-2F2E8421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Брендовые, модельные и небрендовые запросы вместе. Показатель не равен доле рынка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CFC60-C357-44FF-93CB-60F61187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781050" y="2038350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290a4785fc481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18078-891B-4918-BF47-FFB9B60B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895600" cy="337185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7CA2B-0DE2-43DA-94C4-D10F0940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4315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2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864B1-C1EC-43D8-97E4-91345A67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64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открытая небрендовая видимость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B6D01-806B-4F70-A27C-B9A8E63A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62400"/>
            <a:ext cx="2152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71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Даже при наличии брендовых ответов Midea не появляется там, где пользователь еще выбирает марку.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51004-F377-40EB-8F4C-B95753A6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197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9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Малая выборка: вывод используем как baseline, а не как рыночную оценку.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703A3-B0EC-42D5-8285-02D3975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7CC11-EF9C-438D-9AFE-F83F2DBC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AE298-28A3-4B80-85AB-9D0847C2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1480189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369ea82dd49a1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CD096-5C0B-49CD-A3EC-B978A050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3e18f67044b65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04B00-B1AE-4E31-8817-8A0FA4E2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14E51-2AB1-4EF0-9666-F3CD1FF7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7E557-EA34-4A19-B2D4-1530991C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ПОЧЕМУ КАТЕГОРИЯ НЕ ПОПАДАЕТ В AI-ОТВЕТЫ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83A6E-AFDE-4BB2-B822-B6456F52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Четыре разрыва между сайтом и моментом выбора пылесоса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4AF8A-FE64-401F-A3E0-7B3B5C28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E356E-2D9C-460C-AF8B-CB80639A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282B5-63C2-4FC1-A140-C91C2889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КОНСОЛИДАЦИЯ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38B7F-4C18-432A-8188-FA2AA52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C5E5C-7933-40CE-A9B0-82C077BD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324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Старые /blog/ и /catalog/pylesosy/ отдают 404. Нет canonical. Пустая пагинация индексируется.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3C0BA-32E3-4239-9DB6-7761EF24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6821D-6FEB-43CC-810D-51AB1935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СУЩНОСТЬ БРЕНДА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60CC3-67B8-483B-8695-59CC1D4C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F2BD9-6C64-4EE4-B288-529558E0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2324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Глобальный midea.com выглядит официальнее. На локальном сайте нет полной Organization/WebSite-разметки.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20BFC-BD1D-4C1C-B06B-3BC26675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1930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29BD9-EE5E-4942-B5CC-9CDBF80E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ПРЯМЫЕ ОТВЕТЫ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9C452-FEBE-4E84-A62F-27EBF8F3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33725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D8C33-9DD8-45D3-986F-ABDBC3E6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2324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У категории нет H1 и JSON-LD. Нет хаба со сравнениями, сценариями и короткими ответами.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EB7BD-E983-4FE6-A7F1-0513141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59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15745-6F50-4428-BF97-8438CE08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ВНЕШНЕЕ ДОВЕРИЕ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AE817-A590-4DF6-AAB7-B3B9F1AF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33725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A8361-9D98-4473-86C1-2C99A1F6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2324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AI цитирует одну карточку. Нет набора независимых обзоров и тестов с корректными ссылками.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4808F-95E5-4EF1-8B0C-28F9606C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DA820-D267-4305-9A47-79FCA37C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РЕЗУЛЬТАТ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262A3D-5402-44CD-B4B5-3F2BA59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4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Карточка модели извлекается, а категория как источник выбора остается невидимой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83B75A-0764-4F27-B596-5A46AE01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6E5AC-25E0-4D7A-A9A0-CFE3275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57705E-6AEF-4806-AEAA-63AE67F4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230694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d5d27b8574663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295BF-7B08-4945-AD36-9E7E874F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b2c6cced648a6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7F512-98DF-4160-A5C7-9DAE1A9B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5F8B2-0C2C-48D7-A32B-687E5D8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9DBE8-011C-4866-9590-127FA1D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КАКОЙ РЕЗУЛЬТАТ И КОГДА ПРОГНОЗИРУЕМ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DC97D-1BAD-46A9-8A2A-3307BE98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Рекомендуемый сценарий: 24 недели. Числовые KPI фиксируем на шестом месяце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9F46C-4019-40A3-870F-608F0AC0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0EB3D-3A29-4348-A32C-4F51D89C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047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BCF78-C531-4F3E-96AB-BBA60407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322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20D8C-9F63-4508-91BC-426A6CBC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22288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1EBBF-F737-4ABA-A3F1-2FF28827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02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СТАРТ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E03F0-0803-4431-AF42-496B3CBD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3241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6901F-2E1E-4F90-8091-2092B5B1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543300"/>
            <a:ext cx="190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0% в открытых ответах</a:t>
            </a:r>
          </a:p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0 цитат категории</a:t>
            </a:r>
          </a:p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1 цитируемый URL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DF1B9-B8A3-4427-A0E9-F8B1A65B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908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322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384D1-E513-433E-8E3C-C90B49B1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22288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1E033-F21F-4531-B3BF-3320837B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30 ДНЕЙ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278FD-AD5F-46B4-832F-D9F8D10C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Фундамент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58B50-CC5E-49C3-9EA6-CF15D3A7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43300"/>
            <a:ext cx="190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Полный замер</a:t>
            </a:r>
          </a:p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P0-карта</a:t>
            </a:r>
          </a:p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Прототип хаба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4E9BA-5A74-40A1-9000-020DB890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32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FDA5A-FB85-46CC-820A-F67971F3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22288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BB496-E81D-4030-94EB-927E5E11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45 ДНЕЙ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11871-001A-4B9D-9075-C5288CEC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241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Индексация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6063D-B8CF-4930-ADF7-A53AD6E5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43300"/>
            <a:ext cx="190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≥90% приоритетных</a:t>
            </a:r>
          </a:p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страниц в индексе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C0CE1-049E-428C-B297-6EE51514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08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322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DEB91-91A7-4EB8-97CE-EA1B2BF6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24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01635-2222-45C7-ACB6-59D8C30E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3 МЕСЯЦА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CBFCA-BB2E-4145-A089-3109F6F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3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Первый эффект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ABB59-FE20-41BC-8425-64BF0715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43300"/>
            <a:ext cx="190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Две волны релизов</a:t>
            </a:r>
          </a:p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Первые сопоставимые</a:t>
            </a:r>
          </a:p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изменения в ответах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72D13-C6F2-4BC8-BDCD-085BC95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9908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9525">
            <a:solidFill>
              <a:srgbClr val="F2322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A94649-1ACE-4973-BACE-DE5C131A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002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6 МЕСЯЦЕВ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501CA-0EEC-44AF-A78E-9498D788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241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Целевой срез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2744A1-A048-4289-B969-6C255BC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90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≥10% открытых упоминаний</a:t>
            </a:r>
          </a:p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≥8 цитируемых URL</a:t>
            </a:r>
          </a:p>
          <a:p xmlns:a="http://schemas.openxmlformats.org/drawingml/2006/main">
            <a:pPr algn="ctr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+15% SEO-кликов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EAD32-AACA-4B5C-B7E3-FEE4919D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5AAE0F-6857-4A1D-9AB3-43B80053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Ключевая зависимость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517D3A-1406-437E-9750-8EC9FAF1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71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AI-эффект измеряем через 3–4 недели после публикации и индексации каждой волны. Месяц 3: промежуточный контроль. Месяц 6: KPI-срез.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295DC5-7BDE-4457-9156-5E29D624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732E67-D97A-4D42-A390-E31D67FD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FFCCCA-2B63-4241-A279-7AE7E4C6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1102340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40c61f73d4e5d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006B9-79BA-4674-A47B-E98CE88E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ff2c183f74045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8363C-7E93-4EB3-B51D-E1EAD294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E1EAF-9C0D-44BA-B098-C572C39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4906A-6398-41CE-BE04-A2AF4C8F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ДОРОЖНАЯ КАРТА НА 24 НЕДЕЛИ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26887-FBCC-4AC2-8FD9-652C65AC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Работы запускаются параллельно, но AI-измерение начинается до крупных релизов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1E5C4-9F9B-4B83-8840-6DE94656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9BE75-F8AC-4641-BBD0-1F14F31B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43100"/>
            <a:ext cx="95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D75B8-7EEB-4C0B-B512-FD1B7944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76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E8D92-C0EE-47DF-AE93-B4C1C174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43100"/>
            <a:ext cx="95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EFFD3-F3DB-43AB-98AC-6AE2821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075" y="1676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54508-63B7-4439-BAE8-5B7F2882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1943100"/>
            <a:ext cx="95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433D8-D36B-4E56-A3A4-FF08A518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50" y="1676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83F91-C88A-4ADC-AF76-121C1AC8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95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C3916-2A84-44A4-9160-CE562E13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76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39C8F-694B-4174-8EC6-8E3C21B0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43100"/>
            <a:ext cx="95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A3110-A9E0-4574-981F-3B7D5C61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676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39946-8FD9-4273-81F9-1AD06063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1943100"/>
            <a:ext cx="95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16607-71A7-4579-9EC6-6C4AD480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575" y="1676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C00D1-C311-4B71-9794-9B20326C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943100"/>
            <a:ext cx="95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305B0-FF40-44A4-9FAE-42E2C4A1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76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82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DA64B-8B7C-4718-B258-DC2E06D0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28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НЕДЕЛЯ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E2AFC-4806-4814-9818-6E4900E6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Управление программой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ED1E9-ADEE-4C51-8182-71BBF54B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8096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FB319-E86F-47D2-9E2E-0443EE22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674688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47CCC-BF4A-48E4-97A8-74344F28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050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1–2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9F540-6155-4EF1-90A4-4C44BE67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Базовый замер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22940D-3FE2-4298-817D-1D1F1C69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8096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53BE5-2B74-4B6D-9030-AAE84E3D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1349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19DD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D6E823-599F-4776-8483-68828EF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003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1–4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CC1BCF-6D05-4072-BC9B-280037E7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Технические работы P0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6B1F97-E768-4A38-A790-35EE2ED8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8096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5A70A1-980A-49F5-BC39-8B4F2A5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686719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8F257E-0F7B-4DDC-9734-F542BB95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956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1–5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BA4A8E-44A0-4986-8224-8BDBB943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Шаблоны, сущность, CWV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BB6C58-00E8-4C5A-8E41-A032FE42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8096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DD4AD7-BEF0-413B-B7BD-44EF58C1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938" y="3638550"/>
            <a:ext cx="2024063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C91E24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950FC3-4B16-473F-8BD9-E8007B43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138" y="35909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3–8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1CDBB6-69E1-40B7-B2FD-2AAC3DA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Раздел и 17 карточек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1DFC89-0EC6-49A2-A744-26F3C161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8096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C40D9C-B644-45B1-837F-52F4EC7A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4133850"/>
            <a:ext cx="2024063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1B441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2FC64A-F7BE-436F-8041-F4211476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40862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5–10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11DC4A-04F1-46D6-9AF9-92AE9F8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Редакционная программа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DF5AB0-995F-4F65-8578-26743FB6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8096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2721F1-3243-4878-9C08-72968B49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4629150"/>
            <a:ext cx="404812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718D86-37C6-4FB2-AF2C-4C004E25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45815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7–18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62C7A2-D1E8-46CE-94AE-1589BCF5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Digital PR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3159C9-59B5-4B3E-B774-EB3C0672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8096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330C8A-719C-4C47-83D3-7898B0DC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56" y="5124450"/>
            <a:ext cx="5060156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EB6983-9A37-4704-842E-324880BA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856" y="50768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8–22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AF0048-ABBB-45B3-BD85-A9760CA3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Мониторинг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BE865A-7690-4795-A7C9-2ACE51D4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38800"/>
            <a:ext cx="8096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BF7F42-62DA-4A9F-853D-E1C84B8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5619750"/>
            <a:ext cx="5397500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19DD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265A0F-8BD0-4F15-AD8D-4036058B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55721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9–24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097A72-1572-4301-9BA2-176B2DF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8255E5-926D-4336-A471-BE0596E9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D4978D-287F-4CEA-B3D3-02ABCCEE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660686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ff16ba7844595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20350-6634-4BF1-9B48-21C096C1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bea99740b41ab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6DBE0-97A8-465B-B089-95A59655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08A06-7A85-4640-98D7-9363196D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E9DCA-ADDF-4F16-8B96-0A98455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ПЕРВЫЕ 30 ДНЕЙ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2969A-AA76-4B1A-A404-3D4417FE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К концу месяца у проекта есть baseline, исправляемая карта проблем и первый контентный релиз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159D3-CA15-44E8-B231-EAE84F4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FB599-D677-4721-BCAA-318CD97D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324100" cy="3429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3AF88-2BCA-49F7-B6DF-D108D433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054CC-C6E7-4E2C-9671-D787AD7F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Базовый замер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B2B81-806A-4516-958E-A43130FF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B21AF-D8CC-4052-A825-4DE8293D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8859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100 запросов × 5 систем × 3 повтора</a:t>
            </a:r>
          </a:p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RACI и доступы</a:t>
            </a:r>
          </a:p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Роль Midea Russia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69F26-AD5D-4854-B0F1-C1ECC1D0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2324100" cy="3429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1BB67-1550-4971-AED2-8AC53C83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47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НЕДЕЛЯ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1518B-BA9B-40A5-87C5-AFAC9E00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670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Миграция и ссылки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C41CC-1D14-4F79-9D79-73CD8480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FB926-5267-4CAF-8C10-1D47247E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38550"/>
            <a:ext cx="18859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Перечень старых URL</a:t>
            </a:r>
          </a:p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Карта 301/410</a:t>
            </a:r>
          </a:p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Исправление ссылок на 4xx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0A4A7-02CF-48D9-A034-D8298DAB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324100" cy="3429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E8A15-17C2-4158-8B45-FD64F760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НЕДЕЛЯ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6017C-C182-4AC8-A517-916B0EA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Технические шаблоны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F0966-3016-4C70-B9CB-A08AA1E9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6CAE2-B3CD-4BE2-97C1-37B4B2F5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18859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Canonical и параметры</a:t>
            </a:r>
          </a:p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robots.txt и пагинация</a:t>
            </a:r>
          </a:p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H1/H2 и JSON-LD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C997C-9AF8-4B3F-ADA4-22FAA1DB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324100" cy="34290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C6EF3-4FE3-49A0-BBA4-AFBD5C63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47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НЕДЕЛЯ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3943E-FFCB-4E86-B0A1-FEEF760B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Первый релиз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61AB3-5A7B-4C24-B8C6-638008EC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BCF90E-5B31-4811-8ADF-700DCF2C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18859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Прототип хаба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Статья «Как выбрать»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Перелинковка и Schema QA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930C9F-0870-4F00-8FE5-68C3B419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11125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285770-9EB6-43E9-B604-F37DD32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Контрольная точка: первый крупный релиз не выходит до фиксации baseline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3400A-1D4A-4759-AE9A-7FEAFF50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9900EC-33E5-4FE4-9122-C9D63413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0ED03C-98C0-49F6-B54A-C38AE183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1556501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641ff500a4c44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7E9E0-3968-4B9D-8654-7F2FA423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7d86fd2bc4ef0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9240E-462F-4061-A6A9-00B463A2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9B70A-65A4-4F53-BEE7-781816CA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E8556-F264-43C7-A89B-61A0CADD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КОНТЕНТНЫЙ КЛАСТЕР К 18-Й НЕДЕЛЕ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349C4-6AC4-435D-A3D9-90454461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Каждая страница получает одну целевую сущность, прямой ответ и двунаправленные ссылки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D2B43-4FFC-4935-AEC4-814A704A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57D2B-9F92-4873-AD7B-166B34AD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5527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FF7AD-9260-409C-AC4D-D788FD34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7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2FC0A-44E6-4670-B4B0-284CD6DF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Хаб категории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3F1FD-B793-4DCA-B196-E4471D92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Выбор типа, сравнение, сценарии, FAQ и ссылки на 17 моделей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79493-5AEF-4850-8FB6-92FC19B8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25527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C2273-E543-433E-B5AD-C729BD9B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52661-1DA0-4A42-8D95-1A0B8B9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Карточек товаров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E737D-4773-442B-BC2E-85D46401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956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Характеристики, кому подходит, комплектация, инструкции и обслуживание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938E0-44D3-491A-8C2D-22CB098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5527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9FBD1-D66D-4615-9180-D8BD7D1F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0C8DF-318E-4CEE-8D3A-6867C1A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7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Обновленные статьи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0A076-7B47-44ED-9247-F3D0D10D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Автор, дата проверки, источники, ограничения и связь с товарами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79A7D-7EB0-412A-A90F-553D4F0B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38350"/>
            <a:ext cx="25527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CD88C-65AB-4943-A141-5F9E5100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098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3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BB912-1236-438E-8FFD-746ED4A0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Новых материалов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24B0B-F10D-43CD-9374-D4E0DF6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956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Вертикальные, моющие, шерсть, аллергия, покрытия, шум и уход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6CD05-8F40-4AFC-9BB9-5838EDA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11125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FE258-82A5-4E52-8BED-64549026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ПРИОРИТЕТНЫЕ ТЕМЫ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4A47F0-6313-44F7-96F7-819069BE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3162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7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выбрать беспроводной пылесос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Моющий или обычный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Пылесос для шерсти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64BB3D-E2FC-45D1-A9F4-8D1179E9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14900"/>
            <a:ext cx="3162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HEPA и аллергия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Ковры и твердые покрытия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Мощность и всасывание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CCAA3-AE91-4F23-86F1-8D92E65D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7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Тихие модели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Контейнерный или вертикальный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Уход за фильтрами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0E925D-B0A0-494A-808D-D94091E6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200692-A5A8-40A1-9B05-E6ECFF07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6D990B-A6D8-4EEC-8D16-FB9C432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620183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043ebb0ad4d18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D34D0-37B9-4EB8-AA46-03094D37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ce031d17642a4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2609D-C2A1-4579-AC2A-88BEEFA3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06C0F-34F8-46F5-AE80-56ACE81A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94CE9-2847-4B66-818D-C12B50E6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1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DIGITAL PR СОЗДАЕТ НЕЗАВИСИМЫЕ ПОДТВЕРЖДЕНИЯ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5FD7F-37CE-43BA-A0AD-AAC63349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Период: недели 8–22. Цель: дать AI-системам внешние источники для проверки выбора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E4491-F2C7-49CF-B585-D6B0A20B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425C9-3084-471D-8BA1-434E584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C712C-228A-49EC-9B99-6E9B6195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Факт-листы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1EACE-2959-4815-9A16-3A12FB0B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BB371-E611-449D-8CED-4EAA8426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Проверяемые характеристики, ограничения и сравнения моделей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9B76F-9A13-4820-BF48-A593E4DC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9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CE631-CB51-476D-82EC-FCF2B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8153B-47B6-49E1-9DE5-0A3521C0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Редакционные тесты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4F7CD-5AD1-40E1-83DD-9B834D0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0FCF2-E531-4285-A9FA-F34998A8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8 предложений обзоров и тестов с раскрытием условий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7B45B-E3B9-4472-9FD9-B1D94DDA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908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9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31F3F-E3C6-4F7A-8754-FB9B0FCA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99865-64AB-4C9C-A5E8-F27F56D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Корректные ссылки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8D30B-90DD-4D20-B0DC-FE36CD1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194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96C3C-0973-4AD4-A737-81AB90C5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Единые названия моделей и канонический URL Midea Russia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EE204-1EAC-4E01-BF4C-91E63133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9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3AEE2-ED92-49A6-ADCB-DF8409B8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F7521-1041-4439-9A27-7283F47B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29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425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Мониторинг источников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02AD8-8AED-4E8C-8239-4F6804E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252EE-4A90-4E65-B9C6-5C5AD9F4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Статус публикации и последующее появление в AI-ответах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5D296-5F3D-4D83-89E1-EEB22709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1C6454-E962-4DF4-AD94-DDF0784C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737FF7-BF33-46F3-8B0D-E4B199D4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целевых предложений и тестов для редакций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573A6-4E02-47FA-952C-58041EB4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10150"/>
            <a:ext cx="441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Редакционное решение не гарантируется. Мы гарантируем подготовку, отправку и прозрачный статус каждого предложения.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2A897-7E9C-43D1-8BD5-5B1F899C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86565D-1B81-4470-A2A2-D05EB4C2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3F00F6-89FE-4C2D-B43A-37AA892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1934064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39d63d674b78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0A1DC-5EA2-4FBC-954C-50DBD870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2ccc0b3594b11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B7D6A-040F-4CEB-B52C-1EECCB4D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B6AA2-873C-45D4-8F82-E1E6109F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AAFD9-B2C2-4DA6-9E2C-5C0FB81E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СИСТЕМА ИЗМЕРЕНИЯ AI-ВИДИМОСТИ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B2FB4-0708-4116-BE82-2B4E7BAE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Одинаковые запросы, новые сессии и отдельный учет бренда, домена и типа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DD049-8B5D-47F7-ABC0-42FE8390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C06BF-BF1F-42CA-A853-DA66AFD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67266-FD70-47F8-B063-6E340E2A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31A75-63DC-40C9-8484-8358436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9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ответов в полном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A872A-A16D-4AE4-AAF4-C4AEB941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 запросов × 5 систем × 3 повтора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144D9-B907-441F-AB02-66F28D66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1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Фиксируем модель, дату, регион, ответ, ссылку и тип страницы.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D5A93-A478-4AAF-98C8-D3096DBD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7086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2DCD2-C8E5-4A2D-A429-D99D7468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СТАРТ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1397E-47CC-4B2F-9BCD-777E26A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До релизов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2C0A9-E476-4B91-8AF5-8015DA28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Полный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B905C-BE27-461F-A1EF-A83834FB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DE301-0873-4553-B2EA-844FDFE8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7086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F3807-87A1-40F5-956D-B38645D2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ВОЛНА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7CD39-E339-47E8-859B-50D8E764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48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Неделя 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140E8-F9A7-4C4F-9ED1-66407AC8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Первый эффект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B308B-DCC0-4C59-914B-E8530469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3855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33F11-8495-4182-A39B-9177C0D0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7086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B9B1A-A923-4E72-8466-A457C653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ВОЛНА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C70BB0-DDB6-4700-B823-2D50E881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24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Неделя 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B6A45-0987-4C5D-9015-1533B671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24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Контент + PR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733C8-D7AA-43F1-88EA-EF7B4E79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1485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BA8C51-858E-4AB9-88ED-961D4837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05350"/>
            <a:ext cx="7086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BA3F26-28A9-44BB-9A2E-358F854C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ФИНАЛ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B0D981-61DC-4094-A4AD-482F0298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0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Неделя 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AFD982-2771-4FAA-9718-CC721682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KPI-срез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67853-36C6-4C8C-8B9F-EF27A858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76900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35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Плановый ритм волн можно скорректировать под даты релизов. Сравниваем только сопоставимые панели.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46A274-9B1F-4F76-9785-F7585FA4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5AD11C-7295-4E3A-BB2D-C7FC1819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F94B27-09E3-4E23-9B66-500584BF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1489147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52f26ab8e4a85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5A7ED-C3BD-4FD5-BAA3-E831F622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3b042d6aa447e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7B35B-B819-413E-B0A9-C04BD916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DC7C9-D018-4CC3-B911-C91DE8BB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8D6D9-6A4C-42CA-A80B-47347CC3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KPI РЕКОМЕНДУЕМОГО СЦЕНАРИЯ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9A7F2-7D7E-42BB-9A5D-840419BE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Целевые значения проверяем по одной методике. AI-показатели служат ориентирами и не гарантируют позицию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48B52-EFE7-44DB-B77E-FD82A59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11252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1714500"/>
                <a:gridCol w="2476500"/>
                <a:gridCol w="1885950"/>
              </a:tblGrid>
              <a:tr h="50244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ПОКАЗАТЕЛЬ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СЕЙЧАС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ОРИЕНТИР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СРОК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</a:tr>
              <a:tr h="50244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Midea в небрендовых AI-ответах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0 из 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23225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≥10% или +8 п. п.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Месяц 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44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midearussia.ru в брендовых и модельных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50%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23225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≥60%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Каждая волна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50244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Цитирование /collection/pylesosy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0 из 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23225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≥10%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Финал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44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Цитирование текущих статей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0 из 19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23225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≥10%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Финал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50244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Разные процитированные URL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23225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Финал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44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Индексация приоритетных страниц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нет baseline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23225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≥90%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45 дней</a:t>
                      </a:r>
                    </a:p>
                  </a:txBody>
                  <a:tcPr marL="91440" marR="91440" marT="45720" marB="45720" anchor="ctr">
                    <a:solidFill>
                      <a:srgbClr val="F4F4F2"/>
                    </a:solidFill>
                  </a:tcPr>
                </a:tc>
              </a:tr>
              <a:tr h="50244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Небрендовые органические клики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нужен GSC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23225"/>
                          </a:solidFill>
                          <a:latin typeface="Montserrat"/>
                          <a:ea typeface="Montserrat"/>
                          <a:cs typeface="Montserrat"/>
                        </a:rPr>
                        <a:t>+15%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F232B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Месяц 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33694-5703-4489-815F-367B2137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B904C-F58B-4989-8DDD-D0A8E859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Источник: Midea Russia, AEO / GEO / SEO-аудит раздела «Пылесосы»,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FD8F5-6303-4CFC-BDDB-487BEA3C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595415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c894e19a14e55"/>
          <a:srcRect xmlns:a="http://schemas.openxmlformats.org/drawingml/2006/main" l="660" t="0" r="6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485F0-B122-4946-92D7-46E553DC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75f092dfd4a37"/>
          <a:stretch xmlns:a="http://schemas.openxmlformats.org/drawingml/2006/main"/>
        </p:blipFill>
        <p:spPr>
          <a:xfrm xmlns:a="http://schemas.openxmlformats.org/drawingml/2006/main">
            <a:off x="266700" y="228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9834C-8D4C-4CA0-876E-D3DB15C8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ADVISOR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A110B-360E-431F-BC74-E1913F09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E8F0A-F957-4197-B160-D4F8108C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РЕКОМЕНДУЕМЫЙ СЦЕНАРИЙ: 24 НЕДЕЛИ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0CE7B-B681-4D50-AD4B-0433FD05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В этот срок помещаются технические исправления, индексация, контент, внешние подтверждения и три повторных замера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C4767-0A8C-4518-A64D-B4F2A529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7AD3B-1160-4D48-A112-775E6A1A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E81A1-27F3-4F9C-8F2E-CD6431D1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МИНИМУМ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03858-396D-44D4-AEEB-D0DDA30B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12 недель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8B031-394C-4F52-8BEB-2C438F9C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1 503 000 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EF659-F46D-40F9-A47B-59AD1241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AD5D3-9A90-4519-A16A-095F65B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P0/P1 и измеримый фундамент. Без полного покрытия спроса.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6D8C9-095D-4D61-B48F-4787D7CC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42900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712F0-F3DB-4C23-9D37-74E87843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050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РЕКОМЕНДУЕМЫЙ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2B2E8-ADEC-44D8-8429-36E9308B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24 недели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EFC87-1634-497F-A7A7-16379D93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4 441 000 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DF0B2-6DA5-4319-855C-C9A97653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036A6-31CB-4F24-ADC5-797C9F61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719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1 245 часов. P1/P2, 17 карточек, 16 материалов, digital PR и мониторинг.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B5005-5AA9-4240-8718-0B4BC838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42900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4F4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73FAD-AE49-444B-9BCD-2D21B76A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УСКОРЕННЫЙ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53AFA-CEC5-40CF-BFF2-F4AD8E38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>
                <a:solidFill>
                  <a:srgbClr val="151515"/>
                </a:solidFill>
                <a:latin typeface="Montserrat"/>
                <a:ea typeface="Montserrat"/>
                <a:cs typeface="Montserrat"/>
              </a:rPr>
              <a:t>16 недель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45DB4-D938-467A-9294-C0F2C0C1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7 260 000 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51FD0-F140-49AA-8A3C-B9CC15D3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22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5B47C-9383-4187-8265-F19BA836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1F232B"/>
                </a:solidFill>
                <a:latin typeface="Montserrat"/>
                <a:ea typeface="Montserrat"/>
                <a:cs typeface="Montserrat"/>
              </a:rPr>
              <a:t>Параллельный запуск потоков при сжатом сроке.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D0F2B-BF5D-41E5-85F1-FC6914B4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7384B9-7BF4-4191-8C83-5F26FF2E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79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Следующая контрольная точка: утверждение 24 недель, владельцев со стороны Midea и запуск baseline до первого релиза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6B6E3A-5C8E-429D-9D66-CFD621AD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2AA48E-1A72-40D9-83EC-3A859032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defRPr>
            </a:pPr>
            <a:r>
              <a:rPr sz="750" b="0" i="0">
                <a:solidFill>
                  <a:srgbClr val="6F747D"/>
                </a:solidFill>
                <a:latin typeface="Montserrat"/>
                <a:ea typeface="Montserrat"/>
                <a:cs typeface="Montserrat"/>
              </a:rPr>
              <a:t>Стоимость без НДС и внешних расходов. Точность сметы ±15% до обследования CMS/PIM и получения доступов.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D0CF0-D736-41B3-9B6F-8DF33999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23225"/>
                </a:solidFill>
                <a:latin typeface="Montserrat"/>
                <a:ea typeface="Montserrat"/>
                <a:cs typeface="Montserrat"/>
              </a:rPr>
              <a:t>ad-visor.ru</a:t>
            </a:r>
          </a:p>
        </p:txBody>
      </p:sp>
    </p:spTree>
    <p:extLst>
      <p:ext uri="{BB962C8B-B14F-4D97-AF65-F5344CB8AC3E}">
        <p14:creationId xmlns:p14="http://schemas.microsoft.com/office/powerpoint/2010/main" val="1960665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2026-09-10T06:51:15.8280000Z</dcterms:created>
  <dcterms:modified xsi:type="dcterms:W3CDTF">2026-09-10T06:51:15.8280000Z</dcterms:modified>
</coreProperties>
</file>